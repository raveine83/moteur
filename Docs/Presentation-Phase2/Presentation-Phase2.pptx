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5a4ffb126c41e8" /><Relationship Type="http://schemas.openxmlformats.org/officeDocument/2006/relationships/extended-properties" Target="/docProps/app.xml" Id="R8c7982fb26ee4423" /><Relationship Type="http://schemas.openxmlformats.org/officeDocument/2006/relationships/officeDocument" Target="/ppt/presentation.xml" Id="Ra67659b00b9945fc" /></Relationships>
</file>

<file path=ppt/presentation.xml><?xml version="1.0" encoding="utf-8"?>
<p:presentation xmlns:p="http://schemas.openxmlformats.org/presentationml/2006/main">
  <p:sldMasterIdLst>
    <p:sldMasterId xmlns:r="http://schemas.openxmlformats.org/officeDocument/2006/relationships" id="2147483648" r:id="R47d3e1454ccd44d8"/>
  </p:sldMasterIdLst>
  <p:notesMasterIdLst>
    <p:notesMasterId xmlns:r="http://schemas.openxmlformats.org/officeDocument/2006/relationships" r:id="Rcf443a93adea40eb"/>
  </p:notesMasterIdLst>
  <p:sldIdLst>
    <p:sldId xmlns:r="http://schemas.openxmlformats.org/officeDocument/2006/relationships" id="256" r:id="R07dd9b9980624266"/>
    <p:sldId xmlns:r="http://schemas.openxmlformats.org/officeDocument/2006/relationships" id="257" r:id="Rbea715489b9a4c82"/>
    <p:sldId xmlns:r="http://schemas.openxmlformats.org/officeDocument/2006/relationships" id="258" r:id="Rb834d2ca6da44b69"/>
    <p:sldId xmlns:r="http://schemas.openxmlformats.org/officeDocument/2006/relationships" id="259" r:id="R8bb9b3761b424716"/>
    <p:sldId xmlns:r="http://schemas.openxmlformats.org/officeDocument/2006/relationships" id="260" r:id="R3d00e82bf4c74ed4"/>
    <p:sldId xmlns:r="http://schemas.openxmlformats.org/officeDocument/2006/relationships" id="261" r:id="R4d1fbdf654aa44f8"/>
    <p:sldId xmlns:r="http://schemas.openxmlformats.org/officeDocument/2006/relationships" id="262" r:id="Reb527983346640bd"/>
    <p:sldId xmlns:r="http://schemas.openxmlformats.org/officeDocument/2006/relationships" id="263" r:id="Re1edc43f0d2c4fcc"/>
    <p:sldId xmlns:r="http://schemas.openxmlformats.org/officeDocument/2006/relationships" id="264" r:id="Rcad326c8a3ad4053"/>
    <p:sldId xmlns:r="http://schemas.openxmlformats.org/officeDocument/2006/relationships" id="265" r:id="R72a5916768c64245"/>
    <p:sldId xmlns:r="http://schemas.openxmlformats.org/officeDocument/2006/relationships" id="266" r:id="R7a0a7d1fdd7b4f73"/>
    <p:sldId xmlns:r="http://schemas.openxmlformats.org/officeDocument/2006/relationships" id="267" r:id="R1dd772c35eae42e9"/>
    <p:sldId xmlns:r="http://schemas.openxmlformats.org/officeDocument/2006/relationships" id="268" r:id="Ra3ebfabd91b74aa4"/>
    <p:sldId xmlns:r="http://schemas.openxmlformats.org/officeDocument/2006/relationships" id="269" r:id="R05cd41f7a5634846"/>
    <p:sldId xmlns:r="http://schemas.openxmlformats.org/officeDocument/2006/relationships" id="270" r:id="Rb14e53bc3eeb4e37"/>
    <p:sldId xmlns:r="http://schemas.openxmlformats.org/officeDocument/2006/relationships" id="271" r:id="R925136ae8a5d4d2a"/>
    <p:sldId xmlns:r="http://schemas.openxmlformats.org/officeDocument/2006/relationships" id="272" r:id="R5dbdc51f31ae40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74933f3fee4c10" /><Relationship Type="http://schemas.openxmlformats.org/officeDocument/2006/relationships/slideMaster" Target="/ppt/slideMasters/slideMaster1.xml" Id="R47d3e1454ccd44d8" /><Relationship Type="http://schemas.openxmlformats.org/officeDocument/2006/relationships/notesMaster" Target="/ppt/notesMasters/notesMaster1.xml" Id="Rcf443a93adea40eb" /><Relationship Type="http://schemas.openxmlformats.org/officeDocument/2006/relationships/presProps" Target="/ppt/presProps.xml" Id="R93dc2cf3ad4d4950" /><Relationship Type="http://schemas.openxmlformats.org/officeDocument/2006/relationships/tableStyles" Target="/ppt/tableStyles.xml" Id="Rede5771932f54119" /><Relationship Type="http://schemas.openxmlformats.org/officeDocument/2006/relationships/slide" Target="/ppt/slides/slide1.xml" Id="R07dd9b9980624266" /><Relationship Type="http://schemas.openxmlformats.org/officeDocument/2006/relationships/slide" Target="/ppt/slides/slide2.xml" Id="Rbea715489b9a4c82" /><Relationship Type="http://schemas.openxmlformats.org/officeDocument/2006/relationships/slide" Target="/ppt/slides/slide3.xml" Id="Rb834d2ca6da44b69" /><Relationship Type="http://schemas.openxmlformats.org/officeDocument/2006/relationships/slide" Target="/ppt/slides/slide4.xml" Id="R8bb9b3761b424716" /><Relationship Type="http://schemas.openxmlformats.org/officeDocument/2006/relationships/slide" Target="/ppt/slides/slide5.xml" Id="R3d00e82bf4c74ed4" /><Relationship Type="http://schemas.openxmlformats.org/officeDocument/2006/relationships/slide" Target="/ppt/slides/slide6.xml" Id="R4d1fbdf654aa44f8" /><Relationship Type="http://schemas.openxmlformats.org/officeDocument/2006/relationships/slide" Target="/ppt/slides/slide7.xml" Id="Reb527983346640bd" /><Relationship Type="http://schemas.openxmlformats.org/officeDocument/2006/relationships/slide" Target="/ppt/slides/slide8.xml" Id="Re1edc43f0d2c4fcc" /><Relationship Type="http://schemas.openxmlformats.org/officeDocument/2006/relationships/slide" Target="/ppt/slides/slide9.xml" Id="Rcad326c8a3ad4053" /><Relationship Type="http://schemas.openxmlformats.org/officeDocument/2006/relationships/slide" Target="/ppt/slides/slide10.xml" Id="R72a5916768c64245" /><Relationship Type="http://schemas.openxmlformats.org/officeDocument/2006/relationships/slide" Target="/ppt/slides/slide11.xml" Id="R7a0a7d1fdd7b4f73" /><Relationship Type="http://schemas.openxmlformats.org/officeDocument/2006/relationships/slide" Target="/ppt/slides/slide12.xml" Id="R1dd772c35eae42e9" /><Relationship Type="http://schemas.openxmlformats.org/officeDocument/2006/relationships/slide" Target="/ppt/slides/slide13.xml" Id="Ra3ebfabd91b74aa4" /><Relationship Type="http://schemas.openxmlformats.org/officeDocument/2006/relationships/slide" Target="/ppt/slides/slide14.xml" Id="R05cd41f7a5634846" /><Relationship Type="http://schemas.openxmlformats.org/officeDocument/2006/relationships/slide" Target="/ppt/slides/slide15.xml" Id="Rb14e53bc3eeb4e37" /><Relationship Type="http://schemas.openxmlformats.org/officeDocument/2006/relationships/slide" Target="/ppt/slides/slide16.xml" Id="R925136ae8a5d4d2a" /><Relationship Type="http://schemas.openxmlformats.org/officeDocument/2006/relationships/slide" Target="/ppt/slides/slide17.xml" Id="R5dbdc51f31ae40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231ff2445249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04e62fd81d4ed2" /><Relationship Type="http://schemas.openxmlformats.org/officeDocument/2006/relationships/notesMaster" Target="/ppt/notesMasters/notesMaster1.xml" Id="R788dbeeef5d749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c826e93fb04571" /><Relationship Type="http://schemas.openxmlformats.org/officeDocument/2006/relationships/notesMaster" Target="/ppt/notesMasters/notesMaster1.xml" Id="Reb983e14e73f49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b70b915bab42db" /><Relationship Type="http://schemas.openxmlformats.org/officeDocument/2006/relationships/notesMaster" Target="/ppt/notesMasters/notesMaster1.xml" Id="Rc0da8a1d4df149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79a8a1bce24742" /><Relationship Type="http://schemas.openxmlformats.org/officeDocument/2006/relationships/notesMaster" Target="/ppt/notesMasters/notesMaster1.xml" Id="Rdd5e161385e0424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cc62158c734675" /><Relationship Type="http://schemas.openxmlformats.org/officeDocument/2006/relationships/notesMaster" Target="/ppt/notesMasters/notesMaster1.xml" Id="R35a342eb57474c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1564c1bee84ba6" /><Relationship Type="http://schemas.openxmlformats.org/officeDocument/2006/relationships/notesMaster" Target="/ppt/notesMasters/notesMaster1.xml" Id="R3903cd56212d4e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215195e54a4a43" /><Relationship Type="http://schemas.openxmlformats.org/officeDocument/2006/relationships/notesMaster" Target="/ppt/notesMasters/notesMaster1.xml" Id="R9eee9c71d12c4ad3"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0312a2a5344f82" /><Relationship Type="http://schemas.openxmlformats.org/officeDocument/2006/relationships/notesMaster" Target="/ppt/notesMasters/notesMaster1.xml" Id="R824274a4680b4a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df4954b1c645fe" /><Relationship Type="http://schemas.openxmlformats.org/officeDocument/2006/relationships/notesMaster" Target="/ppt/notesMasters/notesMaster1.xml" Id="Rc10187a9b9c742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94506eb83c94950" /><Relationship Type="http://schemas.openxmlformats.org/officeDocument/2006/relationships/notesMaster" Target="/ppt/notesMasters/notesMaster1.xml" Id="R6706ef5b470d455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dea967364de4f72" /><Relationship Type="http://schemas.openxmlformats.org/officeDocument/2006/relationships/notesMaster" Target="/ppt/notesMasters/notesMaster1.xml" Id="R3e29ad473cd5424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70236036e24499" /><Relationship Type="http://schemas.openxmlformats.org/officeDocument/2006/relationships/notesMaster" Target="/ppt/notesMasters/notesMaster1.xml" Id="Rf53cb3b3a7784e4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adf8ea3e7b9420e" /><Relationship Type="http://schemas.openxmlformats.org/officeDocument/2006/relationships/notesMaster" Target="/ppt/notesMasters/notesMaster1.xml" Id="R6f3c44f8b274495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4da3981b0c94b66" /><Relationship Type="http://schemas.openxmlformats.org/officeDocument/2006/relationships/notesMaster" Target="/ppt/notesMasters/notesMaster1.xml" Id="R02cc124b5dee41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ef98b7e61614a2e" /><Relationship Type="http://schemas.openxmlformats.org/officeDocument/2006/relationships/notesMaster" Target="/ppt/notesMasters/notesMaster1.xml" Id="R5f721cfb513c4e4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73bd78cc9143e9" /><Relationship Type="http://schemas.openxmlformats.org/officeDocument/2006/relationships/notesMaster" Target="/ppt/notesMasters/notesMaster1.xml" Id="R14340ef6684340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8448f3e4d01458b" /><Relationship Type="http://schemas.openxmlformats.org/officeDocument/2006/relationships/notesMaster" Target="/ppt/notesMasters/notesMaster1.xml" Id="Ra3a34b88f0534c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0:00-0:10, 10 secondes. Présenter le projet : la phase 1 fournissait les particules et l’intégrateur. La phase 2 ajoute des forces et des contraintes pour obtenir un blob déformable. Équipe : Groupe 2 - Sonic. Cours : 8INF935, UQAC, automne 2026. Annoncer une démonstration en direct. Image : capture vol.png du jeu exécuté avec le rendu Processing.</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0:10-0:20, 10 secondes. Annoncer le parcours : le fonctionnement du moteur, la construction du blob puis la démonstration et les limites. Les références détaillées et les développements mathématiques sont dans les annexes. Les durées prévues des 14 diapositives principales totalisent 10 minutes.</a:t>
            </a:r>
          </a:p>
          <a:p xmlns:a="http://schemas.openxmlformats.org/drawingml/2006/main">
            <a:r>
              <a:t/>
            </a:r>
          </a:p>
          <a:p xmlns:a="http://schemas.openxmlformats.org/drawingml/2006/main">
            <a:r>
              <a:t>Sources et code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0:20-0:45, 25 secondes. Chaque cercle correspond à une ParticuleSphere et les traits représentent les liens. Le morceau sélectionné est vert, les autres sont bleus. Les flèches appliquent des forces. S coupe des liens, Tab ou un clic change le morceau sélectionné, F ajoute un lien avec un autre morceau proche. Le compteur donne le nombre total de particules du morceau contrôlé, y compris la particule de référence. La condition de victoire vérifie que les 12 particules sont réunies et toutes dans la zone d’arrivée. Code : Monde.creerBlob, Monde.commander, Monde.objectifAtteint et JeuBlob.</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0:45-1:15, 30 secondes. Le contrôleur JeuBlob gère les entrées et le dessin. Monde contient les particules, les liens et l’ordre de simulation. Le registre appelle les générateurs de forces par leur interface commune. Particule intègre l’accélération totale, puis vide son accumulateur. Les générateurs de contacts détectent collisions, tiges et câbles. Le gestionnaire transmet ces contacts au résolveur. Les trois premières classes assurent la séparation entre logique du jeu et physique. Code : JeuBlob, Monde, RegistreForces, GenerateurForce, Particule, GestionnaireCollisions, ResolveurContacts.</a:t>
            </a:r>
          </a:p>
          <a:p xmlns:a="http://schemas.openxmlformats.org/drawingml/2006/main">
            <a:r>
              <a:t/>
            </a:r>
          </a:p>
          <a:p xmlns:a="http://schemas.openxmlformats.org/drawingml/2006/main">
            <a:r>
              <a:t>Sources et code</a:t>
            </a:r>
          </a:p>
          <a:p xmlns:a="http://schemas.openxmlformats.org/drawingml/2006/main">
            <a:r>
              <a:t>C:/Users/fafar/Downloads/4 Intégration Numérique.pdf ; pages PDF 3</a:t>
            </a:r>
          </a:p>
          <a:p xmlns:a="http://schemas.openxmlformats.org/drawingml/2006/main">
            <a:r>
              <a:t>C:/Users/fafar/Downloads/5 Dynamique Linéaire.pdf ; pages PDF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55 secondes. Relier le code au principe de somme vectorielle des forces et à la deuxième loi de Newton. Gravite ajoute m*g, donc toutes les masses ont la même accélération g. Dans notre repère y croît vers le bas, donc g=(0,360,0) en pixels par seconde carrée. La traînée s’oppose à la vitesse et dépend de sa norme et de son carré. La scène 8 démontre une friction solide en mouvement horizontal : la petite force A/D vaut 130, sous le seuil statique 216 ; la grande force des flèches vaut 650. La friction est enregistrée après les autres forces pour lire leur somme. Préciser que ce modèle solide n’est pas général pour tous les plans inclinés. Code : Gravite.mettreAJourForce, FrictionTrainee.mettreAJourForce, FrictionSolide.mettreAJourForce, Particule.ajouterForce.</a:t>
            </a:r>
          </a:p>
          <a:p xmlns:a="http://schemas.openxmlformats.org/drawingml/2006/main">
            <a:r>
              <a:t/>
            </a:r>
          </a:p>
          <a:p xmlns:a="http://schemas.openxmlformats.org/drawingml/2006/main">
            <a:r>
              <a:t>Sources et code</a:t>
            </a:r>
          </a:p>
          <a:p xmlns:a="http://schemas.openxmlformats.org/drawingml/2006/main">
            <a:r>
              <a:t>C:/Users/fafar/Downloads/5 Dynamique Linéaire.pdf ; pages PDF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45 secondes. v est la dérivée de la position et a celle de la vitesse. Euler explicite utilise la vitesse du début du pas pour avancer la position. Le damping est élevé à la puissance h pour limiter la dépendance à la fréquence d’affichage. JeuBlob mesure le temps réel avec System.nanoTime. Monde accumule ce temps puis effectue des sous-pas fixes de 1/240 seconde, soit généralement quatre sous-pas pour une image à 60 Hz. Les pixels sont des unités de jeu, et la masse utilise une unité conventionnelle. Une durée de frame est plafonnée à 0,1 seconde après un blocage, donc du temps simulé peut être perdu. Code : Particule.integrer, Monde.avancer, JeuBlob.dessiner.</a:t>
            </a:r>
          </a:p>
          <a:p xmlns:a="http://schemas.openxmlformats.org/drawingml/2006/main">
            <a:r>
              <a:t/>
            </a:r>
          </a:p>
          <a:p xmlns:a="http://schemas.openxmlformats.org/drawingml/2006/main">
            <a:r>
              <a:t>Sources et code</a:t>
            </a:r>
          </a:p>
          <a:p xmlns:a="http://schemas.openxmlformats.org/drawingml/2006/main">
            <a:r>
              <a:t>C:/Users/fafar/Downloads/3 Cinématique Linéaire.pdf ; pages PDF 3-5</a:t>
            </a:r>
          </a:p>
          <a:p xmlns:a="http://schemas.openxmlformats.org/drawingml/2006/main">
            <a:r>
              <a:t>C:/Users/fafar/Downloads/4 Intégration Numérique.pdf ; pages PDF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2:55-3:55, 60 secondes. Définir l, l0 et n. Hooke : F=-k(l-l0)n. Quand le ressort est étiré il tire ; en compression il pousse. LienBlob enregistre un générateur pour chaque extrémité, donnant des forces égales et opposées. Le câble borne la longueur à 1,55*l0. Cette valeur est un choix du jeu. Les variantes sont disponibles dans les scènes 2 à 5. Le ressort rigide factice utilise une solution analytique amortie pour obtenir une vitesse cible, puis F=m*(vcible-v)/h. Son implémentation traite seulement le régime sous-amorti. Un bungee tire seulement au-delà de sa longueur au repos, alors qu’un câble impose une limite dure. Code : Ressort, RessortAncre, RessortBungee, RessortRigideFactice et LienBlob.</a:t>
            </a:r>
          </a:p>
          <a:p xmlns:a="http://schemas.openxmlformats.org/drawingml/2006/main">
            <a:r>
              <a:t/>
            </a:r>
          </a:p>
          <a:p xmlns:a="http://schemas.openxmlformats.org/drawingml/2006/main">
            <a:r>
              <a:t>Sources et code</a:t>
            </a:r>
          </a:p>
          <a:p xmlns:a="http://schemas.openxmlformats.org/drawingml/2006/main">
            <a:r>
              <a:t>C:/Users/fafar/Downloads/5 Dynamique Linéaire.pdf ; pages PDF 2, 5-8</a:t>
            </a:r>
          </a:p>
          <a:p xmlns:a="http://schemas.openxmlformats.org/drawingml/2006/main">
            <a:r>
              <a:t>C:/Users/fafar/Downloads/6 Impulsions Et Collisions.pdf ; pages PDF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3:55-5:00, 65 secondes. La détection compare toutes les paires de sphères. Le contact apparaît si la distance entre centres est plus petite que la somme des rayons. La profondeur vaut la différence. Dans notre code n pointe de B vers A et w=1/m. La vitesse de séparation est (vA-vB)·n : elle est négative quand les particules se rapprochent. L’impulsion vise une vitesse de séparation finale -e*vsep. Elle conserve la quantité de mouvement dans un système isolé et change instantanément la vitesse. Le contact avec le sol utilise une seconde masse infinie. Le solveur corrige aussi l’interpénétration proportionnellement aux inverses de masse. Le corps le plus léger bouge davantage. e=0,15 pour les contacts du jeu. Code : DetecteurCollisions.tester, Contact.resoudreVitesse, Contact.resoudreInterpenetration et ResolveurContacts.</a:t>
            </a:r>
          </a:p>
          <a:p xmlns:a="http://schemas.openxmlformats.org/drawingml/2006/main">
            <a:r>
              <a:t/>
            </a:r>
          </a:p>
          <a:p xmlns:a="http://schemas.openxmlformats.org/drawingml/2006/main">
            <a:r>
              <a:t>Sources et code</a:t>
            </a:r>
          </a:p>
          <a:p xmlns:a="http://schemas.openxmlformats.org/drawingml/2006/main">
            <a:r>
              <a:t>C:/Users/fafar/Downloads/6 Impulsions Et Collisions.pdf ; pages PDF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5:00-5:50, 50 secondes. Une tige maintient une longueur fixe, alors qu’un câble autorise le rapprochement mais interdit de dépasser une longueur maximale. Ces deux générateurs créent des contacts dont la normale ramène vers la contrainte. Le contact au repos doit supprimer les rebonds dus à la gravité d’un seul sous-pas. La correction utilise maintenant l’accélération totale de la dernière intégration, y compris les générateurs, et non uniquement l’accélération constante. Le facteur trois du seuil de repos est une tolérance pratique. Le solveur parcourt les contacts de manière itérative avec un budget de deux fois leur nombre pour les vitesses et les positions, et jusqu’à quatre passes de redétection. Code : ContactTige, ContactCable, ContactPlan, Contact.resoudreVitesse, GestionnaireCollisions.</a:t>
            </a:r>
          </a:p>
          <a:p xmlns:a="http://schemas.openxmlformats.org/drawingml/2006/main">
            <a:r>
              <a:t/>
            </a:r>
          </a:p>
          <a:p xmlns:a="http://schemas.openxmlformats.org/drawingml/2006/main">
            <a:r>
              <a:t>Sources et code</a:t>
            </a:r>
          </a:p>
          <a:p xmlns:a="http://schemas.openxmlformats.org/drawingml/2006/main">
            <a:r>
              <a:t>C:/Users/fafar/Downloads/6 Impulsions Et Collisions.pdf ; pages PDF 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5:50-6:25, 35 secondes. Le blob est un graphe : particules aux sommets, liens sur les arêtes. S partage le morceau sélectionné suivant les positions horizontales, retire les liens entre les deux parties et applique des forces opposées pendant un court instant. Tab permet de changer de morceau. F cherche la paire de particules la plus proche entre le morceau sélectionné et les autres, puis ajoute un pont ressort/câble si la distance est inférieure à 70 pixels. Ce seuil est une règle de jeu. Une collision sans restitution ne suffit pas à créer une fusion durable : il faut modifier le réseau. Le compteur suit le morceau contrôlé. Code : Monde.getGroupes, separer, fusionner, selectionSuivante.</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6:25-7:10, 45 secondes. Le compteur n’est pas une animation arbitraire : il utilise la solution analytique d’un système masse-ressort amorti. L’EDO est m*x″+c*x′+k*x=0. Dans le régime sous-amorti la position oscille avec une enveloppe exponentielle décroissante. Ici m=1, k=196 et c=9, donc lambda=4,5 par seconde et omegaD environ 13,26 radians par seconde. La condition initiale est un décalage de -22 pixels avec une vitesse nulle. verifierCompteur redéclenche l’oscillation lorsque le nombre de particules du morceau sélectionné change. Les valeurs entières restent exactes ; seule leur position à l’écran oscille. Code : OscillateurAmorti.getDeplacement, JeuBlob.verifierCompteur et dessinerHUD.</a:t>
            </a:r>
          </a:p>
          <a:p xmlns:a="http://schemas.openxmlformats.org/drawingml/2006/main">
            <a:r>
              <a:t/>
            </a:r>
          </a:p>
          <a:p xmlns:a="http://schemas.openxmlformats.org/drawingml/2006/main">
            <a:r>
              <a:t>Sources et code</a:t>
            </a:r>
          </a:p>
          <a:p xmlns:a="http://schemas.openxmlformats.org/drawingml/2006/main">
            <a:r>
              <a:t>C:/Users/fafar/Downloads/5 Dynamique Linéaire.pdf ; pages PDF 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7:10-8:50, 100 secondes. Basculer vers l’application déjà ouverte. 0-40 s : scène 1, déplacer le blob, montrer la chute et le repos, S, choisir un morceau avec Tab, rapprocher, F, observer le compteur. Pour une fusion facile, appuyer sur F peu après la séparation ou rapprocher les morceaux avec les flèches. 40-65 s : scènes 2 à 5 avec quelques secondes par scène, R rétablit les conditions initiales. 65-80 s : scènes 6 et 7, montrer la différence entre une tige et un câble. 80-100 s : scène 8, A/D ne dépasse pas le seuil statique, puis maintenir une flèche et relâcher pour observer le ralentissement. Revenir à la présentation. Les captures illustrent le projet mais ne remplacent pas cette démonstration en direct.</a:t>
            </a:r>
          </a:p>
          <a:p xmlns:a="http://schemas.openxmlformats.org/drawingml/2006/main">
            <a:r>
              <a:t/>
            </a:r>
          </a:p>
          <a:p xmlns:a="http://schemas.openxmlformats.org/drawingml/2006/main">
            <a:r>
              <a:t>Sources et code</a:t>
            </a:r>
          </a:p>
          <a:p xmlns:a="http://schemas.openxmlformats.org/drawingml/2006/main">
            <a:r>
              <a:t>C:/Users/fafar/Downloads/Phase2 - Moteur Physique_1 (2).docx.pdf ; pages PDF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8:50-9:35, 45 secondes. Au dernier lancement vérifié, 136 tests passent. Ils couvrent les anciennes classes et les nouveaux comportements. Citer une simulation du blob pendant 20 secondes, le respect des câbles et la comparaison de la même durée simulée avec un rendu à 60 et 144 images par seconde. Les tests graphiques génèrent les huit scènes avec des horloges contrôlées. Défis : les ressorts nécessitent des sous-pas, le repos doit utiliser l’accélération produite par les générateurs, et la friction ne doit pas renverser artificiellement la vitesse. Limites : Euler explicite et détection discrète, coût O(n²), nombre d’itérations limité et friction solide restreinte au modèle horizontal. Les tests ne prouvent pas que toutes les configurations physiques sont exactes. Sources : target/surefire-reports, MondeTest, JeuBlobTest, ContactTest, RessortsTest, README et guide des formules.</a:t>
            </a:r>
          </a:p>
          <a:p xmlns:a="http://schemas.openxmlformats.org/drawingml/2006/main">
            <a:r>
              <a:t/>
            </a:r>
          </a:p>
          <a:p xmlns:a="http://schemas.openxmlformats.org/drawingml/2006/main">
            <a:r>
              <a:t>Sources et code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9:35-10:00, 25 secondes. Rappeler ce que le moteur sait faire : accumuler des forces, maintenir des liens et résoudre des contacts, puis utiliser ces briques dans le jeu de blob. La structure du moteur permet ensuite de poursuivre vers les corps rigides et la rotation de la phase suivante. Le travail spécifique de dépassement des attentes est reporté. Proposer les annexes pour les détails mathématiques en cas de question.</a:t>
            </a:r>
          </a:p>
          <a:p xmlns:a="http://schemas.openxmlformats.org/drawingml/2006/main">
            <a:r>
              <a:t/>
            </a:r>
          </a:p>
          <a:p xmlns:a="http://schemas.openxmlformats.org/drawingml/2006/main">
            <a:r>
              <a:t>Sources et code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hors des 10 minutes. v_sep est négative lors du rapprochement. La loi de restitution donne v_sep_cible=-e*v_sep. Une impulsion j*n augmente vA de j*wA*n et diminue vB de j*wB*n, donc la vitesse relative normale augmente de j*(wA+wB). Isoler j donne la formule. Si les objets se séparent déjà, aucune impulsion d’impact n’est appliquée. La correction de position répartit la profondeur delta selon les mêmes inverses de masse. La normale du manuscrit peut être opposée ; tous les signes doivent changer ensemble. Un plan fixe correspond à wB=0. Un système isolé conserve le momentum, mais pas nécessairement l’énergie cinétique si e&lt;1. Code : Contact.resoudreVitesse et resoudreInterpenetration.</a:t>
            </a:r>
          </a:p>
          <a:p xmlns:a="http://schemas.openxmlformats.org/drawingml/2006/main">
            <a:r>
              <a:t/>
            </a:r>
          </a:p>
          <a:p xmlns:a="http://schemas.openxmlformats.org/drawingml/2006/main">
            <a:r>
              <a:t>Sources et code</a:t>
            </a:r>
          </a:p>
          <a:p xmlns:a="http://schemas.openxmlformats.org/drawingml/2006/main">
            <a:r>
              <a:t>C:/Users/fafar/Downloads/6 Impulsions Et Collisions.pdf ; pages PDF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hors des 10 minutes. omega0=sqrt(k/m), lambda=c/(2m), zeta=lambda/omega0. Comme zeta≈0,321&lt;1, le système oscille. omegaD=sqrt(196-20,25)≈13,257 radians par seconde. K1=x0=-22 pixels. K2=(lambda*x0+v0)/omegaD≈-7,468 pixels, car v0=0. OscillateurAmorti utilise une forme factorisée équivalente : x0*exp(-lambda*t)*(cos(omegaD*t)+lambda/omegaD*sin(omegaD*t)). Il n’y a pas d’intégration numérique de cette animation, seulement l’évaluation de la solution analytique. Les paramètres du HUD sont des choix de présentation. Code : OscillateurAmorti.java.</a:t>
            </a:r>
          </a:p>
          <a:p xmlns:a="http://schemas.openxmlformats.org/drawingml/2006/main">
            <a:r>
              <a:t/>
            </a:r>
          </a:p>
          <a:p xmlns:a="http://schemas.openxmlformats.org/drawingml/2006/main">
            <a:r>
              <a:t>Sources et code</a:t>
            </a:r>
          </a:p>
          <a:p xmlns:a="http://schemas.openxmlformats.org/drawingml/2006/main">
            <a:r>
              <a:t>C:/Users/fafar/Downloads/5 Dynamique Linéaire.pdf ; pages PDF 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hors des 10 minutes. Références : numéros des pages PDF depuis 1. La formule d’Euler et le damping viennent du chapitre 4. Newton, les générateurs, la friction, Hooke et l’oscillation amortie viennent du chapitre 5. Détection, impulsions, repos, tiges et câbles viennent du chapitre 6. Le chapitre 3 donne les définitions de la vitesse et de l’accélération. Le détail des seuils du jeu et des limites d’implémentation se trouve dans Docs/Phase2-Formules-et-oral.md. Les noms de méthodes et les seuils ont été vérifiés dans le code du projet.</a:t>
            </a:r>
          </a:p>
          <a:p xmlns:a="http://schemas.openxmlformats.org/drawingml/2006/main">
            <a:r>
              <a:t/>
            </a:r>
          </a:p>
          <a:p xmlns:a="http://schemas.openxmlformats.org/drawingml/2006/main">
            <a:r>
              <a:t>Sources et code</a:t>
            </a:r>
          </a:p>
          <a:p xmlns:a="http://schemas.openxmlformats.org/drawingml/2006/main">
            <a:r>
              <a:t>C:/Users/fafar/Downloads/3 Cinématique Linéaire.pdf ; pages PDF 3-5</a:t>
            </a:r>
          </a:p>
          <a:p xmlns:a="http://schemas.openxmlformats.org/drawingml/2006/main">
            <a:r>
              <a:t>C:/Users/fafar/Downloads/4 Intégration Numérique.pdf ; pages PDF 4-7</a:t>
            </a:r>
          </a:p>
          <a:p xmlns:a="http://schemas.openxmlformats.org/drawingml/2006/main">
            <a:r>
              <a:t>C:/Users/fafar/Downloads/5 Dynamique Linéaire.pdf ; pages PDF 1-8</a:t>
            </a:r>
          </a:p>
          <a:p xmlns:a="http://schemas.openxmlformats.org/drawingml/2006/main">
            <a:r>
              <a:t>C:/Users/fafar/Downloads/6 Impulsions Et Collisions.pdf ; pages PDF 1-8</a:t>
            </a:r>
          </a:p>
          <a:p xmlns:a="http://schemas.openxmlformats.org/drawingml/2006/main">
            <a:r>
              <a:t>C:/Users/fafar/Downloads/Phase2 - Moteur Physique_1 (2).docx.pdf ; pages PDF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edf3a6a7e4a43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37ed452a97480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420396abaa04f6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16356d3ac2d4be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f8fed986b954c3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70330174234e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941F6F-9E6B-4A01-9D98-0A50B6A6CBC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528E14B-8D9F-4010-8DA8-33243567AA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ACD3F0-6A5B-406E-A2B0-4450E7D9EB5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7970AE-690B-4852-8CB7-E4C395CA02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0260BD-D93C-405F-B38A-62F68A63EE0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5A82FCF-6B6C-42F1-9C34-0C8217CC9F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5C18AAC-939F-4384-BEDA-5458459B9EA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27D9873-425C-4B5C-9C84-60BA136A117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4D694D-8F2A-4FE2-9437-C2B550AE04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3ED164-E587-4902-9CF4-4843D9000B6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306c8132afc467e" /><Relationship Type="http://schemas.openxmlformats.org/officeDocument/2006/relationships/slideLayout" Target="/ppt/slideLayouts/slideLayout1.xml" Id="R5668d4da998d4c30" /><Relationship Type="http://schemas.openxmlformats.org/officeDocument/2006/relationships/slideLayout" Target="/ppt/slideLayouts/slideLayout2.xml" Id="Rfca3441efb734326" /><Relationship Type="http://schemas.openxmlformats.org/officeDocument/2006/relationships/slideLayout" Target="/ppt/slideLayouts/slideLayout3.xml" Id="R4b311f7e5ec84b6e" /><Relationship Type="http://schemas.openxmlformats.org/officeDocument/2006/relationships/slideLayout" Target="/ppt/slideLayouts/slideLayout4.xml" Id="Rd5ce56e020974198" /><Relationship Type="http://schemas.openxmlformats.org/officeDocument/2006/relationships/slideLayout" Target="/ppt/slideLayouts/slideLayout5.xml" Id="Rcf85d02e33ba4084" /><Relationship Type="http://schemas.openxmlformats.org/officeDocument/2006/relationships/slideLayout" Target="/ppt/slideLayouts/slideLayout6.xml" Id="R899a732211e24b5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668d4da998d4c30"/>
    <p:sldLayoutId xmlns:r="http://schemas.openxmlformats.org/officeDocument/2006/relationships" id="2147483650" r:id="Rfca3441efb734326"/>
    <p:sldLayoutId xmlns:r="http://schemas.openxmlformats.org/officeDocument/2006/relationships" id="2147483651" r:id="R4b311f7e5ec84b6e"/>
    <p:sldLayoutId xmlns:r="http://schemas.openxmlformats.org/officeDocument/2006/relationships" id="2147483652" r:id="Rd5ce56e020974198"/>
    <p:sldLayoutId xmlns:r="http://schemas.openxmlformats.org/officeDocument/2006/relationships" id="2147483653" r:id="Rcf85d02e33ba4084"/>
    <p:sldLayoutId xmlns:r="http://schemas.openxmlformats.org/officeDocument/2006/relationships" id="2147483654" r:id="R899a732211e24b5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cac6b4a6c2d4b0d" /><Relationship Type="http://schemas.openxmlformats.org/officeDocument/2006/relationships/notesSlide" Target="/ppt/notesSlides/notesSlide1.xml" Id="Raade6e0870fa44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0fb581a0ef84eb7" /><Relationship Type="http://schemas.openxmlformats.org/officeDocument/2006/relationships/notesSlide" Target="/ppt/notesSlides/notesSlide2.xml" Id="R12d96e116d514c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0f65acc60e48b3" /><Relationship Type="http://schemas.openxmlformats.org/officeDocument/2006/relationships/notesSlide" Target="/ppt/notesSlides/notesSlide3.xml" Id="R400dfef768a4486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adce4a0de154cb4" /><Relationship Type="http://schemas.openxmlformats.org/officeDocument/2006/relationships/notesSlide" Target="/ppt/notesSlides/notesSlide4.xml" Id="Rc6ef08a5cf2144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627b47f6dbb40bf" /><Relationship Type="http://schemas.openxmlformats.org/officeDocument/2006/relationships/notesSlide" Target="/ppt/notesSlides/notesSlide5.xml" Id="Rd12534ca140c47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39c545322ac4233" /><Relationship Type="http://schemas.openxmlformats.org/officeDocument/2006/relationships/notesSlide" Target="/ppt/notesSlides/notesSlide6.xml" Id="R15d177c4e74f4b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12e9ac20612486a" /><Relationship Type="http://schemas.openxmlformats.org/officeDocument/2006/relationships/notesSlide" Target="/ppt/notesSlides/notesSlide7.xml" Id="Rd4324ea36f0540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8fa4549e38f4815" /><Relationship Type="http://schemas.openxmlformats.org/officeDocument/2006/relationships/notesSlide" Target="/ppt/notesSlides/notesSlide8.xml" Id="R46a20a39c38e40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cc6b0276f744bfc" /><Relationship Type="http://schemas.openxmlformats.org/officeDocument/2006/relationships/notesSlide" Target="/ppt/notesSlides/notesSlide9.xml" Id="R6bcbab7939fe43b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615d24602ad4723" /><Relationship Type="http://schemas.openxmlformats.org/officeDocument/2006/relationships/notesSlide" Target="/ppt/notesSlides/notesSlide10.xml" Id="R2c0f0dc2754a4d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4a86b8859b24120" /><Relationship Type="http://schemas.openxmlformats.org/officeDocument/2006/relationships/notesSlide" Target="/ppt/notesSlides/notesSlide11.xml" Id="R452e88482cd9414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313c30fe8984871" /><Relationship Type="http://schemas.openxmlformats.org/officeDocument/2006/relationships/notesSlide" Target="/ppt/notesSlides/notesSlide12.xml" Id="Rc0110c5010c546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7e9bad68b454337" /><Relationship Type="http://schemas.openxmlformats.org/officeDocument/2006/relationships/notesSlide" Target="/ppt/notesSlides/notesSlide13.xml" Id="R7422a1dd9f014a3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b52e089b741430b" /><Relationship Type="http://schemas.openxmlformats.org/officeDocument/2006/relationships/notesSlide" Target="/ppt/notesSlides/notesSlide14.xml" Id="R86d7a06b89ef418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4cc070ddd0e49c8" /><Relationship Type="http://schemas.openxmlformats.org/officeDocument/2006/relationships/notesSlide" Target="/ppt/notesSlides/notesSlide15.xml" Id="R5867b81636ae42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7547adc11c94c22" /><Relationship Type="http://schemas.openxmlformats.org/officeDocument/2006/relationships/notesSlide" Target="/ppt/notesSlides/notesSlide16.xml" Id="R441afdbdbfe24eb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aa10e67e65340ea" /><Relationship Type="http://schemas.openxmlformats.org/officeDocument/2006/relationships/notesSlide" Target="/ppt/notesSlides/notesSlide17.xml" Id="R5b22796a0ed6400b" /></Relationships>
</file>

<file path=ppt/slides/slide1.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110F30E-3190-445E-9C47-033AD6EBFDF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Moteur physique</a:t>
            </a:r>
          </a:p>
        </p:txBody>
      </p:sp>
      <p:sp>
        <p:nvSpPr>
          <p:cNvPr id="3" name="">
            <a:extLst xmlns:a="http://schemas.openxmlformats.org/drawingml/2006/main">
              <a:ext uri="{FF2B5EF4-FFF2-40B4-BE49-F238E27FC236}">
                <a16:creationId xmlns:a16="http://schemas.microsoft.com/office/drawing/2014/main" id="{F76C9E12-5BBF-4DFF-8FB3-C17D4DE04F73}"/>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22E057B-BB60-4508-89C5-B4104A77801E}"/>
              </a:ext>
            </a:extLst>
          </p:cNvPr>
          <p:cNvSpPr>
            <a:spLocks xmlns:a="http://schemas.openxmlformats.org/drawingml/2006/main" noGrp="1"/>
          </p:cNvSpPr>
          <p:nvPr/>
        </p:nvSpPr>
        <p:spPr>
          <a:xfrm xmlns:a="http://schemas.openxmlformats.org/drawingml/2006/main">
            <a:off x="609600" y="1485900"/>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6ADDB2"/>
                </a:solidFill>
                <a:latin typeface="Arial"/>
                <a:ea typeface="Arial"/>
                <a:cs typeface="Arial"/>
              </a:defRPr>
            </a:defPPr>
            <a:lvl1pPr>
              <a:defRPr sz="5100" b="1">
                <a:solidFill>
                  <a:srgbClr val="6ADDB2"/>
                </a:solidFill>
                <a:latin typeface="Arial"/>
                <a:ea typeface="Arial"/>
                <a:cs typeface="Arial"/>
              </a:defRPr>
            </a:lvl1pPr>
            <a:lvl2pPr>
              <a:defRPr sz="5100" b="1">
                <a:solidFill>
                  <a:srgbClr val="6ADDB2"/>
                </a:solidFill>
                <a:latin typeface="Arial"/>
                <a:ea typeface="Arial"/>
                <a:cs typeface="Arial"/>
              </a:defRPr>
            </a:lvl2pPr>
            <a:lvl3pPr>
              <a:defRPr sz="5100" b="1">
                <a:solidFill>
                  <a:srgbClr val="6ADDB2"/>
                </a:solidFill>
                <a:latin typeface="Arial"/>
                <a:ea typeface="Arial"/>
                <a:cs typeface="Arial"/>
              </a:defRPr>
            </a:lvl3pPr>
            <a:lvl4pPr>
              <a:defRPr sz="5100" b="1">
                <a:solidFill>
                  <a:srgbClr val="6ADDB2"/>
                </a:solidFill>
                <a:latin typeface="Arial"/>
                <a:ea typeface="Arial"/>
                <a:cs typeface="Arial"/>
              </a:defRPr>
            </a:lvl4pPr>
            <a:lvl5pPr>
              <a:defRPr sz="5100" b="1">
                <a:solidFill>
                  <a:srgbClr val="6ADDB2"/>
                </a:solidFill>
                <a:latin typeface="Arial"/>
                <a:ea typeface="Arial"/>
                <a:cs typeface="Arial"/>
              </a:defRPr>
            </a:lvl5pPr>
            <a:lvl6pPr>
              <a:defRPr sz="5100" b="1">
                <a:solidFill>
                  <a:srgbClr val="6ADDB2"/>
                </a:solidFill>
                <a:latin typeface="Arial"/>
                <a:ea typeface="Arial"/>
                <a:cs typeface="Arial"/>
              </a:defRPr>
            </a:lvl6pPr>
            <a:lvl7pPr>
              <a:defRPr sz="5100" b="1">
                <a:solidFill>
                  <a:srgbClr val="6ADDB2"/>
                </a:solidFill>
                <a:latin typeface="Arial"/>
                <a:ea typeface="Arial"/>
                <a:cs typeface="Arial"/>
              </a:defRPr>
            </a:lvl7pPr>
            <a:lvl8pPr>
              <a:defRPr sz="5100" b="1">
                <a:solidFill>
                  <a:srgbClr val="6ADDB2"/>
                </a:solidFill>
                <a:latin typeface="Arial"/>
                <a:ea typeface="Arial"/>
                <a:cs typeface="Arial"/>
              </a:defRPr>
            </a:lvl8pPr>
            <a:lvl9pPr>
              <a:defRPr sz="5100" b="1">
                <a:solidFill>
                  <a:srgbClr val="6ADDB2"/>
                </a:solidFill>
                <a:latin typeface="Arial"/>
                <a:ea typeface="Arial"/>
                <a:cs typeface="Arial"/>
              </a:defRPr>
            </a:lvl9pPr>
          </a:lstStyle>
          <a:p xmlns:a="http://schemas.openxmlformats.org/drawingml/2006/main">
            <a:pPr>
              <a:defRPr sz="5100" b="1">
                <a:solidFill>
                  <a:srgbClr val="6ADDB2"/>
                </a:solidFill>
                <a:latin typeface="Arial"/>
                <a:ea typeface="Arial"/>
                <a:cs typeface="Arial"/>
              </a:defRPr>
            </a:pPr>
            <a:r>
              <a:rPr sz="5100" b="1">
                <a:solidFill>
                  <a:srgbClr val="6ADDB2"/>
                </a:solidFill>
                <a:latin typeface="Arial"/>
                <a:ea typeface="Arial"/>
                <a:cs typeface="Arial"/>
              </a:rPr>
              <a:t>Phase 2</a:t>
            </a:r>
          </a:p>
        </p:txBody>
      </p:sp>
      <p:sp>
        <p:nvSpPr>
          <p:cNvPr id="5" name="">
            <a:extLst xmlns:a="http://schemas.openxmlformats.org/drawingml/2006/main">
              <a:ext uri="{FF2B5EF4-FFF2-40B4-BE49-F238E27FC236}">
                <a16:creationId xmlns:a16="http://schemas.microsoft.com/office/drawing/2014/main" id="{0F62566D-DB38-478B-B00C-519CBC8DB6E1}"/>
              </a:ext>
            </a:extLst>
          </p:cNvPr>
          <p:cNvSpPr>
            <a:spLocks xmlns:a="http://schemas.openxmlformats.org/drawingml/2006/main" noGrp="1"/>
          </p:cNvSpPr>
          <p:nvPr/>
        </p:nvSpPr>
        <p:spPr>
          <a:xfrm xmlns:a="http://schemas.openxmlformats.org/drawingml/2006/main">
            <a:off x="609600" y="2505075"/>
            <a:ext cx="628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EEF4FA"/>
                </a:solidFill>
                <a:latin typeface="Arial"/>
                <a:ea typeface="Arial"/>
                <a:cs typeface="Arial"/>
              </a:defRPr>
            </a:defPPr>
            <a:lvl1pPr>
              <a:defRPr sz="2850" b="0">
                <a:solidFill>
                  <a:srgbClr val="EEF4FA"/>
                </a:solidFill>
                <a:latin typeface="Arial"/>
                <a:ea typeface="Arial"/>
                <a:cs typeface="Arial"/>
              </a:defRPr>
            </a:lvl1pPr>
            <a:lvl2pPr>
              <a:defRPr sz="2850" b="0">
                <a:solidFill>
                  <a:srgbClr val="EEF4FA"/>
                </a:solidFill>
                <a:latin typeface="Arial"/>
                <a:ea typeface="Arial"/>
                <a:cs typeface="Arial"/>
              </a:defRPr>
            </a:lvl2pPr>
            <a:lvl3pPr>
              <a:defRPr sz="2850" b="0">
                <a:solidFill>
                  <a:srgbClr val="EEF4FA"/>
                </a:solidFill>
                <a:latin typeface="Arial"/>
                <a:ea typeface="Arial"/>
                <a:cs typeface="Arial"/>
              </a:defRPr>
            </a:lvl3pPr>
            <a:lvl4pPr>
              <a:defRPr sz="2850" b="0">
                <a:solidFill>
                  <a:srgbClr val="EEF4FA"/>
                </a:solidFill>
                <a:latin typeface="Arial"/>
                <a:ea typeface="Arial"/>
                <a:cs typeface="Arial"/>
              </a:defRPr>
            </a:lvl4pPr>
            <a:lvl5pPr>
              <a:defRPr sz="2850" b="0">
                <a:solidFill>
                  <a:srgbClr val="EEF4FA"/>
                </a:solidFill>
                <a:latin typeface="Arial"/>
                <a:ea typeface="Arial"/>
                <a:cs typeface="Arial"/>
              </a:defRPr>
            </a:lvl5pPr>
            <a:lvl6pPr>
              <a:defRPr sz="2850" b="0">
                <a:solidFill>
                  <a:srgbClr val="EEF4FA"/>
                </a:solidFill>
                <a:latin typeface="Arial"/>
                <a:ea typeface="Arial"/>
                <a:cs typeface="Arial"/>
              </a:defRPr>
            </a:lvl6pPr>
            <a:lvl7pPr>
              <a:defRPr sz="2850" b="0">
                <a:solidFill>
                  <a:srgbClr val="EEF4FA"/>
                </a:solidFill>
                <a:latin typeface="Arial"/>
                <a:ea typeface="Arial"/>
                <a:cs typeface="Arial"/>
              </a:defRPr>
            </a:lvl7pPr>
            <a:lvl8pPr>
              <a:defRPr sz="2850" b="0">
                <a:solidFill>
                  <a:srgbClr val="EEF4FA"/>
                </a:solidFill>
                <a:latin typeface="Arial"/>
                <a:ea typeface="Arial"/>
                <a:cs typeface="Arial"/>
              </a:defRPr>
            </a:lvl8pPr>
            <a:lvl9pPr>
              <a:defRPr sz="2850" b="0">
                <a:solidFill>
                  <a:srgbClr val="EEF4FA"/>
                </a:solidFill>
                <a:latin typeface="Arial"/>
                <a:ea typeface="Arial"/>
                <a:cs typeface="Arial"/>
              </a:defRPr>
            </a:lvl9pPr>
          </a:lstStyle>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Forces, collisions et blob</a:t>
            </a:r>
          </a:p>
        </p:txBody>
      </p:sp>
      <p:sp>
        <p:nvSpPr>
          <p:cNvPr id="6" name="">
            <a:extLst xmlns:a="http://schemas.openxmlformats.org/drawingml/2006/main">
              <a:ext uri="{FF2B5EF4-FFF2-40B4-BE49-F238E27FC236}">
                <a16:creationId xmlns:a16="http://schemas.microsoft.com/office/drawing/2014/main" id="{7F15DCBA-D10F-4883-BFA7-0D908630D539}"/>
              </a:ext>
            </a:extLst>
          </p:cNvPr>
          <p:cNvSpPr>
            <a:spLocks xmlns:a="http://schemas.openxmlformats.org/drawingml/2006/main" noGrp="1"/>
          </p:cNvSpPr>
          <p:nvPr/>
        </p:nvSpPr>
        <p:spPr>
          <a:xfrm xmlns:a="http://schemas.openxmlformats.org/drawingml/2006/main">
            <a:off x="609600" y="47625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Groupe 2 - Sonic</a:t>
            </a:r>
          </a:p>
        </p:txBody>
      </p:sp>
      <p:sp>
        <p:nvSpPr>
          <p:cNvPr id="7" name="">
            <a:extLst xmlns:a="http://schemas.openxmlformats.org/drawingml/2006/main">
              <a:ext uri="{FF2B5EF4-FFF2-40B4-BE49-F238E27FC236}">
                <a16:creationId xmlns:a16="http://schemas.microsoft.com/office/drawing/2014/main" id="{A8468602-D673-44C1-B6A4-162171AD149B}"/>
              </a:ext>
            </a:extLst>
          </p:cNvPr>
          <p:cNvSpPr>
            <a:spLocks xmlns:a="http://schemas.openxmlformats.org/drawingml/2006/main" noGrp="1"/>
          </p:cNvSpPr>
          <p:nvPr/>
        </p:nvSpPr>
        <p:spPr>
          <a:xfrm xmlns:a="http://schemas.openxmlformats.org/drawingml/2006/main">
            <a:off x="609600" y="5267325"/>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A9BDD1"/>
                </a:solidFill>
                <a:latin typeface="Arial"/>
                <a:ea typeface="Arial"/>
                <a:cs typeface="Arial"/>
              </a:defRPr>
            </a:defPPr>
            <a:lvl1pPr>
              <a:defRPr sz="1725" b="0">
                <a:solidFill>
                  <a:srgbClr val="A9BDD1"/>
                </a:solidFill>
                <a:latin typeface="Arial"/>
                <a:ea typeface="Arial"/>
                <a:cs typeface="Arial"/>
              </a:defRPr>
            </a:lvl1pPr>
            <a:lvl2pPr>
              <a:defRPr sz="1725" b="0">
                <a:solidFill>
                  <a:srgbClr val="A9BDD1"/>
                </a:solidFill>
                <a:latin typeface="Arial"/>
                <a:ea typeface="Arial"/>
                <a:cs typeface="Arial"/>
              </a:defRPr>
            </a:lvl2pPr>
            <a:lvl3pPr>
              <a:defRPr sz="1725" b="0">
                <a:solidFill>
                  <a:srgbClr val="A9BDD1"/>
                </a:solidFill>
                <a:latin typeface="Arial"/>
                <a:ea typeface="Arial"/>
                <a:cs typeface="Arial"/>
              </a:defRPr>
            </a:lvl3pPr>
            <a:lvl4pPr>
              <a:defRPr sz="1725" b="0">
                <a:solidFill>
                  <a:srgbClr val="A9BDD1"/>
                </a:solidFill>
                <a:latin typeface="Arial"/>
                <a:ea typeface="Arial"/>
                <a:cs typeface="Arial"/>
              </a:defRPr>
            </a:lvl4pPr>
            <a:lvl5pPr>
              <a:defRPr sz="1725" b="0">
                <a:solidFill>
                  <a:srgbClr val="A9BDD1"/>
                </a:solidFill>
                <a:latin typeface="Arial"/>
                <a:ea typeface="Arial"/>
                <a:cs typeface="Arial"/>
              </a:defRPr>
            </a:lvl5pPr>
            <a:lvl6pPr>
              <a:defRPr sz="1725" b="0">
                <a:solidFill>
                  <a:srgbClr val="A9BDD1"/>
                </a:solidFill>
                <a:latin typeface="Arial"/>
                <a:ea typeface="Arial"/>
                <a:cs typeface="Arial"/>
              </a:defRPr>
            </a:lvl6pPr>
            <a:lvl7pPr>
              <a:defRPr sz="1725" b="0">
                <a:solidFill>
                  <a:srgbClr val="A9BDD1"/>
                </a:solidFill>
                <a:latin typeface="Arial"/>
                <a:ea typeface="Arial"/>
                <a:cs typeface="Arial"/>
              </a:defRPr>
            </a:lvl7pPr>
            <a:lvl8pPr>
              <a:defRPr sz="1725" b="0">
                <a:solidFill>
                  <a:srgbClr val="A9BDD1"/>
                </a:solidFill>
                <a:latin typeface="Arial"/>
                <a:ea typeface="Arial"/>
                <a:cs typeface="Arial"/>
              </a:defRPr>
            </a:lvl8pPr>
            <a:lvl9pPr>
              <a:defRPr sz="1725" b="0">
                <a:solidFill>
                  <a:srgbClr val="A9BDD1"/>
                </a:solidFill>
                <a:latin typeface="Arial"/>
                <a:ea typeface="Arial"/>
                <a:cs typeface="Arial"/>
              </a:defRPr>
            </a:lvl9pPr>
          </a:lstStyle>
          <a:p xmlns:a="http://schemas.openxmlformats.org/drawingml/2006/main">
            <a:pPr>
              <a:defRPr sz="1725" b="0">
                <a:solidFill>
                  <a:srgbClr val="A9BDD1"/>
                </a:solidFill>
                <a:latin typeface="Arial"/>
                <a:ea typeface="Arial"/>
                <a:cs typeface="Arial"/>
              </a:defRPr>
            </a:pPr>
            <a:r>
              <a:rPr sz="1725" b="0">
                <a:solidFill>
                  <a:srgbClr val="A9BDD1"/>
                </a:solidFill>
                <a:latin typeface="Arial"/>
                <a:ea typeface="Arial"/>
                <a:cs typeface="Arial"/>
              </a:rPr>
              <a:t>8INF935, UQAC, automne 2026</a:t>
            </a:r>
          </a:p>
        </p:txBody>
      </p:sp>
    </p:spTree>
    <p:extLst>
      <p:ext uri="{BB962C8B-B14F-4D97-AF65-F5344CB8AC3E}">
        <p14:creationId xmlns:p14="http://schemas.microsoft.com/office/powerpoint/2010/main" val="2139296170"/>
      </p:ext>
    </p:extLst>
  </p:cSld>
</p:sld>
</file>

<file path=ppt/slides/slide2.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E3CDA3-C2E4-4BA4-9EC2-F104FB3FDDC0}"/>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Plan de la présentation</a:t>
            </a:r>
          </a:p>
        </p:txBody>
      </p:sp>
      <p:sp>
        <p:nvSpPr>
          <p:cNvPr id="3" name="">
            <a:extLst xmlns:a="http://schemas.openxmlformats.org/drawingml/2006/main">
              <a:ext uri="{FF2B5EF4-FFF2-40B4-BE49-F238E27FC236}">
                <a16:creationId xmlns:a16="http://schemas.microsoft.com/office/drawing/2014/main" id="{71583864-0A1C-4BAC-A71F-CA473464D0AC}"/>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0E3BA9F7-3B8E-4BF0-A912-7C9D9F67CE01}"/>
              </a:ext>
            </a:extLst>
          </p:cNvPr>
          <p:cNvSpPr>
            <a:spLocks xmlns:a="http://schemas.openxmlformats.org/drawingml/2006/main" noGrp="1"/>
          </p:cNvSpPr>
          <p:nvPr/>
        </p:nvSpPr>
        <p:spPr>
          <a:xfrm xmlns:a="http://schemas.openxmlformats.org/drawingml/2006/main">
            <a:off x="609600" y="214312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B4F8BF28-5848-4881-A361-3A9B04C618B2}"/>
              </a:ext>
            </a:extLst>
          </p:cNvPr>
          <p:cNvSpPr>
            <a:spLocks xmlns:a="http://schemas.openxmlformats.org/drawingml/2006/main" noGrp="1"/>
          </p:cNvSpPr>
          <p:nvPr/>
        </p:nvSpPr>
        <p:spPr>
          <a:xfrm xmlns:a="http://schemas.openxmlformats.org/drawingml/2006/main">
            <a:off x="1619250" y="21145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Le moteur et les formules du cours</a:t>
            </a:r>
          </a:p>
        </p:txBody>
      </p:sp>
      <p:sp>
        <p:nvSpPr>
          <p:cNvPr id="6" name="">
            <a:extLst xmlns:a="http://schemas.openxmlformats.org/drawingml/2006/main">
              <a:ext uri="{FF2B5EF4-FFF2-40B4-BE49-F238E27FC236}">
                <a16:creationId xmlns:a16="http://schemas.microsoft.com/office/drawing/2014/main" id="{2CC96C56-1CC7-4745-896B-D35E9EC39C0E}"/>
              </a:ext>
            </a:extLst>
          </p:cNvPr>
          <p:cNvSpPr>
            <a:spLocks xmlns:a="http://schemas.openxmlformats.org/drawingml/2006/main" noGrp="1"/>
          </p:cNvSpPr>
          <p:nvPr/>
        </p:nvSpPr>
        <p:spPr>
          <a:xfrm xmlns:a="http://schemas.openxmlformats.org/drawingml/2006/main">
            <a:off x="609600" y="33813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098C6062-20D9-458D-BEC5-54EB4FC4260B}"/>
              </a:ext>
            </a:extLst>
          </p:cNvPr>
          <p:cNvSpPr>
            <a:spLocks xmlns:a="http://schemas.openxmlformats.org/drawingml/2006/main" noGrp="1"/>
          </p:cNvSpPr>
          <p:nvPr/>
        </p:nvSpPr>
        <p:spPr>
          <a:xfrm xmlns:a="http://schemas.openxmlformats.org/drawingml/2006/main">
            <a:off x="1619250" y="3352800"/>
            <a:ext cx="971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Les liens du blob, les collisions et le HUD</a:t>
            </a:r>
          </a:p>
        </p:txBody>
      </p:sp>
      <p:sp>
        <p:nvSpPr>
          <p:cNvPr id="8" name="">
            <a:extLst xmlns:a="http://schemas.openxmlformats.org/drawingml/2006/main">
              <a:ext uri="{FF2B5EF4-FFF2-40B4-BE49-F238E27FC236}">
                <a16:creationId xmlns:a16="http://schemas.microsoft.com/office/drawing/2014/main" id="{D6CDA70F-2433-4D31-A672-207E89780F85}"/>
              </a:ext>
            </a:extLst>
          </p:cNvPr>
          <p:cNvSpPr>
            <a:spLocks xmlns:a="http://schemas.openxmlformats.org/drawingml/2006/main" noGrp="1"/>
          </p:cNvSpPr>
          <p:nvPr/>
        </p:nvSpPr>
        <p:spPr>
          <a:xfrm xmlns:a="http://schemas.openxmlformats.org/drawingml/2006/main">
            <a:off x="609600" y="4762500"/>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03</a:t>
            </a:r>
          </a:p>
        </p:txBody>
      </p:sp>
      <p:sp>
        <p:nvSpPr>
          <p:cNvPr id="9" name="">
            <a:extLst xmlns:a="http://schemas.openxmlformats.org/drawingml/2006/main">
              <a:ext uri="{FF2B5EF4-FFF2-40B4-BE49-F238E27FC236}">
                <a16:creationId xmlns:a16="http://schemas.microsoft.com/office/drawing/2014/main" id="{760EB47B-03D2-4001-9401-EAEE5F3AAF8E}"/>
              </a:ext>
            </a:extLst>
          </p:cNvPr>
          <p:cNvSpPr>
            <a:spLocks xmlns:a="http://schemas.openxmlformats.org/drawingml/2006/main" noGrp="1"/>
          </p:cNvSpPr>
          <p:nvPr/>
        </p:nvSpPr>
        <p:spPr>
          <a:xfrm xmlns:a="http://schemas.openxmlformats.org/drawingml/2006/main">
            <a:off x="1619250" y="4733925"/>
            <a:ext cx="9715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La démonstration, les tests et les limites</a:t>
            </a:r>
          </a:p>
        </p:txBody>
      </p:sp>
    </p:spTree>
    <p:extLst>
      <p:ext uri="{BB962C8B-B14F-4D97-AF65-F5344CB8AC3E}">
        <p14:creationId xmlns:p14="http://schemas.microsoft.com/office/powerpoint/2010/main" val="1289002797"/>
      </p:ext>
    </p:extLst>
  </p:cSld>
</p:sld>
</file>

<file path=ppt/slides/slide3.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3684573-ECE9-47CB-A9AF-BAF461F28D15}"/>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Le jeu de blob</a:t>
            </a:r>
          </a:p>
        </p:txBody>
      </p:sp>
      <p:sp>
        <p:nvSpPr>
          <p:cNvPr id="3" name="">
            <a:extLst xmlns:a="http://schemas.openxmlformats.org/drawingml/2006/main">
              <a:ext uri="{FF2B5EF4-FFF2-40B4-BE49-F238E27FC236}">
                <a16:creationId xmlns:a16="http://schemas.microsoft.com/office/drawing/2014/main" id="{692D7679-E8C8-4DF0-972D-0E092A9E3F63}"/>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Réunir les 12 particules et les conduire dans la zone verte</a:t>
            </a:r>
          </a:p>
        </p:txBody>
      </p:sp>
      <p:sp>
        <p:nvSpPr>
          <p:cNvPr id="4" name="">
            <a:extLst xmlns:a="http://schemas.openxmlformats.org/drawingml/2006/main">
              <a:ext uri="{FF2B5EF4-FFF2-40B4-BE49-F238E27FC236}">
                <a16:creationId xmlns:a16="http://schemas.microsoft.com/office/drawing/2014/main" id="{9CBED706-53D9-488B-A0C1-E7652AC9F1D5}"/>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7DAB7E5D-2D64-4ABE-9BD2-60CB9E1DC8BF}"/>
              </a:ext>
            </a:extLst>
          </p:cNvPr>
          <p:cNvSpPr>
            <a:spLocks xmlns:a="http://schemas.openxmlformats.org/drawingml/2006/main" noGrp="1"/>
          </p:cNvSpPr>
          <p:nvPr/>
        </p:nvSpPr>
        <p:spPr>
          <a:xfrm xmlns:a="http://schemas.openxmlformats.org/drawingml/2006/main">
            <a:off x="8134350" y="21145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COMMANDES</a:t>
            </a:r>
          </a:p>
        </p:txBody>
      </p:sp>
      <p:sp>
        <p:nvSpPr>
          <p:cNvPr id="7" name="">
            <a:extLst xmlns:a="http://schemas.openxmlformats.org/drawingml/2006/main">
              <a:ext uri="{FF2B5EF4-FFF2-40B4-BE49-F238E27FC236}">
                <a16:creationId xmlns:a16="http://schemas.microsoft.com/office/drawing/2014/main" id="{C991F8FE-25E2-4A70-ABDB-CB50CCD036D1}"/>
              </a:ext>
            </a:extLst>
          </p:cNvPr>
          <p:cNvSpPr>
            <a:spLocks xmlns:a="http://schemas.openxmlformats.org/drawingml/2006/main" noGrp="1"/>
          </p:cNvSpPr>
          <p:nvPr/>
        </p:nvSpPr>
        <p:spPr>
          <a:xfrm xmlns:a="http://schemas.openxmlformats.org/drawingml/2006/main">
            <a:off x="8134350" y="2619375"/>
            <a:ext cx="338137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Flèches : déplacer</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S : séparer</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F : fusionner</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Tab / clic : sélectionner</a:t>
            </a:r>
          </a:p>
        </p:txBody>
      </p:sp>
      <p:sp>
        <p:nvSpPr>
          <p:cNvPr id="8" name="">
            <a:extLst xmlns:a="http://schemas.openxmlformats.org/drawingml/2006/main">
              <a:ext uri="{FF2B5EF4-FFF2-40B4-BE49-F238E27FC236}">
                <a16:creationId xmlns:a16="http://schemas.microsoft.com/office/drawing/2014/main" id="{F51F21F9-89D8-4FFD-8B34-F68DED095247}"/>
              </a:ext>
            </a:extLst>
          </p:cNvPr>
          <p:cNvSpPr>
            <a:spLocks xmlns:a="http://schemas.openxmlformats.org/drawingml/2006/main" noGrp="1"/>
          </p:cNvSpPr>
          <p:nvPr/>
        </p:nvSpPr>
        <p:spPr>
          <a:xfrm xmlns:a="http://schemas.openxmlformats.org/drawingml/2006/main">
            <a:off x="8134350" y="5153025"/>
            <a:ext cx="3381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Le compteur suit le morceau sélectionné.</a:t>
            </a:r>
          </a:p>
        </p:txBody>
      </p:sp>
    </p:spTree>
    <p:extLst>
      <p:ext uri="{BB962C8B-B14F-4D97-AF65-F5344CB8AC3E}">
        <p14:creationId xmlns:p14="http://schemas.microsoft.com/office/powerpoint/2010/main" val="714687795"/>
      </p:ext>
    </p:extLst>
  </p:cSld>
</p:sld>
</file>

<file path=ppt/slides/slide4.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2B74A52-6008-488B-ACD6-BC96E3EFE224}"/>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Architecture du moteur</a:t>
            </a:r>
          </a:p>
        </p:txBody>
      </p:sp>
      <p:sp>
        <p:nvSpPr>
          <p:cNvPr id="3" name="">
            <a:extLst xmlns:a="http://schemas.openxmlformats.org/drawingml/2006/main">
              <a:ext uri="{FF2B5EF4-FFF2-40B4-BE49-F238E27FC236}">
                <a16:creationId xmlns:a16="http://schemas.microsoft.com/office/drawing/2014/main" id="{7DC3BED9-1C63-481F-920F-464634E6C719}"/>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 rendu utilise un monde physique indépendant de Processing</a:t>
            </a:r>
          </a:p>
        </p:txBody>
      </p:sp>
      <p:sp>
        <p:nvSpPr>
          <p:cNvPr id="4" name="">
            <a:extLst xmlns:a="http://schemas.openxmlformats.org/drawingml/2006/main">
              <a:ext uri="{FF2B5EF4-FFF2-40B4-BE49-F238E27FC236}">
                <a16:creationId xmlns:a16="http://schemas.microsoft.com/office/drawing/2014/main" id="{31DDBED1-DAB8-4171-89C9-CB60D60547A8}"/>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407BC903-E5D1-4841-9959-771C207FE088}"/>
              </a:ext>
            </a:extLst>
          </p:cNvPr>
          <p:cNvGraphicFramePr/>
          <p:nvPr/>
        </p:nvGraphicFramePr>
        <p:xfrm>
          <a:off xmlns:a="http://schemas.openxmlformats.org/drawingml/2006/main" x="609600" y="2019300"/>
          <a:ext xmlns:a="http://schemas.openxmlformats.org/drawingml/2006/main" cx="10972800" cy="3667125"/>
        </p:xfrm>
        <a:graphic xmlns:a="http://schemas.openxmlformats.org/drawingml/2006/main">
          <a:graphicData uri="http://schemas.openxmlformats.org/drawingml/2006/table">
            <a:tbl>
              <a:tblPr/>
              <a:tblGrid>
                <a:gridCol w="2571750"/>
                <a:gridCol w="3429000"/>
                <a:gridCol w="4972050"/>
              </a:tblGrid>
              <a:tr h="733425">
                <a:tc>
                  <a:txBody>
                    <a:bodyPr/>
                    <a:lstStyle/>
                    <a:p>
                      <a:r>
                        <a:rPr sz="1800" b="1">
                          <a:solidFill>
                            <a:srgbClr val="6ADDB2"/>
                          </a:solidFill>
                          <a:latin typeface="Arial"/>
                          <a:ea typeface="Arial"/>
                          <a:cs typeface="Arial"/>
                        </a:rPr>
                        <a:t>Étape</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Classes</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Responsabilité</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733425">
                <a:tc>
                  <a:txBody>
                    <a:bodyPr/>
                    <a:lstStyle/>
                    <a:p>
                      <a:r>
                        <a:rPr sz="1800" b="0">
                          <a:solidFill>
                            <a:srgbClr val="EEF4FA"/>
                          </a:solidFill>
                          <a:latin typeface="Arial"/>
                          <a:ea typeface="Arial"/>
                          <a:cs typeface="Arial"/>
                        </a:rPr>
                        <a:t>Entrées et rendu</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JeuBlob</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Commandes, dessins et HUD</a:t>
                      </a:r>
                    </a:p>
                  </a:txBody>
                  <a:tcPr marL="91440" marR="91440" marT="45720" marB="45720">
                    <a:lnR w="9525">
                      <a:solidFill>
                        <a:srgbClr val="334459"/>
                      </a:solidFill>
                      <a:prstDash val="solid"/>
                    </a:lnR>
                    <a:lnB w="9525">
                      <a:solidFill>
                        <a:srgbClr val="334459"/>
                      </a:solidFill>
                      <a:prstDash val="solid"/>
                    </a:lnB>
                    <a:solidFill>
                      <a:srgbClr val="131B2B"/>
                    </a:solidFill>
                  </a:tcPr>
                </a:tc>
              </a:tr>
              <a:tr h="733425">
                <a:tc>
                  <a:txBody>
                    <a:bodyPr/>
                    <a:lstStyle/>
                    <a:p>
                      <a:r>
                        <a:rPr sz="1800" b="0">
                          <a:solidFill>
                            <a:srgbClr val="EEF4FA"/>
                          </a:solidFill>
                          <a:latin typeface="Arial"/>
                          <a:ea typeface="Arial"/>
                          <a:cs typeface="Arial"/>
                        </a:rPr>
                        <a:t>1. Forces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RegistreForces</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Addition des forces de chaque générateur</a:t>
                      </a:r>
                    </a:p>
                  </a:txBody>
                  <a:tcPr marL="91440" marR="91440" marT="45720" marB="45720">
                    <a:lnR w="9525">
                      <a:solidFill>
                        <a:srgbClr val="334459"/>
                      </a:solidFill>
                      <a:prstDash val="solid"/>
                    </a:lnR>
                    <a:lnB w="9525">
                      <a:solidFill>
                        <a:srgbClr val="334459"/>
                      </a:solidFill>
                      <a:prstDash val="solid"/>
                    </a:lnB>
                    <a:solidFill>
                      <a:srgbClr val="131B2B"/>
                    </a:solidFill>
                  </a:tcPr>
                </a:tc>
              </a:tr>
              <a:tr h="733425">
                <a:tc>
                  <a:txBody>
                    <a:bodyPr/>
                    <a:lstStyle/>
                    <a:p>
                      <a:r>
                        <a:rPr sz="1800" b="0">
                          <a:solidFill>
                            <a:srgbClr val="EEF4FA"/>
                          </a:solidFill>
                          <a:latin typeface="Arial"/>
                          <a:ea typeface="Arial"/>
                          <a:cs typeface="Arial"/>
                        </a:rPr>
                        <a:t>2. Intégration</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Particule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Mise à jour des positions et vitesses</a:t>
                      </a:r>
                    </a:p>
                  </a:txBody>
                  <a:tcPr marL="91440" marR="91440" marT="45720" marB="45720">
                    <a:lnR w="9525">
                      <a:solidFill>
                        <a:srgbClr val="334459"/>
                      </a:solidFill>
                      <a:prstDash val="solid"/>
                    </a:lnR>
                    <a:lnB w="9525">
                      <a:solidFill>
                        <a:srgbClr val="334459"/>
                      </a:solidFill>
                      <a:prstDash val="solid"/>
                    </a:lnB>
                    <a:solidFill>
                      <a:srgbClr val="131B2B"/>
                    </a:solidFill>
                  </a:tcPr>
                </a:tc>
              </a:tr>
              <a:tr h="733425">
                <a:tc>
                  <a:txBody>
                    <a:bodyPr/>
                    <a:lstStyle/>
                    <a:p>
                      <a:r>
                        <a:rPr sz="1800" b="0">
                          <a:solidFill>
                            <a:srgbClr val="EEF4FA"/>
                          </a:solidFill>
                          <a:latin typeface="Arial"/>
                          <a:ea typeface="Arial"/>
                          <a:cs typeface="Arial"/>
                        </a:rPr>
                        <a:t>3. Contacts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GestionnaireCollisions</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Détection puis résolution itérative</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6" name="">
            <a:extLst xmlns:a="http://schemas.openxmlformats.org/drawingml/2006/main">
              <a:ext uri="{FF2B5EF4-FFF2-40B4-BE49-F238E27FC236}">
                <a16:creationId xmlns:a16="http://schemas.microsoft.com/office/drawing/2014/main" id="{C2F691F3-0FD6-4BD8-AD43-6C0F9E1817EF}"/>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Monde.avancer(dt) orchestre ces étapes pour chaque sous-pas.</a:t>
            </a:r>
          </a:p>
        </p:txBody>
      </p:sp>
    </p:spTree>
    <p:extLst>
      <p:ext uri="{BB962C8B-B14F-4D97-AF65-F5344CB8AC3E}">
        <p14:creationId xmlns:p14="http://schemas.microsoft.com/office/powerpoint/2010/main" val="670656643"/>
      </p:ext>
    </p:extLst>
  </p:cSld>
</p:sld>
</file>

<file path=ppt/slides/slide5.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0BC8D21-E74C-4938-A73E-7DF87A176F1B}"/>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Forces et friction</a:t>
            </a:r>
          </a:p>
        </p:txBody>
      </p:sp>
      <p:sp>
        <p:nvSpPr>
          <p:cNvPr id="3" name="">
            <a:extLst xmlns:a="http://schemas.openxmlformats.org/drawingml/2006/main">
              <a:ext uri="{FF2B5EF4-FFF2-40B4-BE49-F238E27FC236}">
                <a16:creationId xmlns:a16="http://schemas.microsoft.com/office/drawing/2014/main" id="{48F49078-0232-41AC-8D3A-3881824AFF17}"/>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Chaque générateur ajoute sa contribution à la force résultante</a:t>
            </a:r>
          </a:p>
        </p:txBody>
      </p:sp>
      <p:sp>
        <p:nvSpPr>
          <p:cNvPr id="4" name="">
            <a:extLst xmlns:a="http://schemas.openxmlformats.org/drawingml/2006/main">
              <a:ext uri="{FF2B5EF4-FFF2-40B4-BE49-F238E27FC236}">
                <a16:creationId xmlns:a16="http://schemas.microsoft.com/office/drawing/2014/main" id="{D5417E88-90D1-4C31-9DBC-F5903AE54047}"/>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05707FDD-3F70-4A4B-A38E-3E6E56627D14}"/>
              </a:ext>
            </a:extLst>
          </p:cNvPr>
          <p:cNvSpPr>
            <a:spLocks xmlns:a="http://schemas.openxmlformats.org/drawingml/2006/main" noGrp="1"/>
          </p:cNvSpPr>
          <p:nvPr/>
        </p:nvSpPr>
        <p:spPr>
          <a:xfrm xmlns:a="http://schemas.openxmlformats.org/drawingml/2006/main">
            <a:off x="609600" y="21050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NEWTON ET GRAVITÉ</a:t>
            </a:r>
          </a:p>
        </p:txBody>
      </p:sp>
      <p:sp>
        <p:nvSpPr>
          <p:cNvPr id="6" name="">
            <a:extLst xmlns:a="http://schemas.openxmlformats.org/drawingml/2006/main">
              <a:ext uri="{FF2B5EF4-FFF2-40B4-BE49-F238E27FC236}">
                <a16:creationId xmlns:a16="http://schemas.microsoft.com/office/drawing/2014/main" id="{1D198E9D-0430-4F61-BDE7-2FD120AE3A3A}"/>
              </a:ext>
            </a:extLst>
          </p:cNvPr>
          <p:cNvSpPr>
            <a:spLocks xmlns:a="http://schemas.openxmlformats.org/drawingml/2006/main" noGrp="1"/>
          </p:cNvSpPr>
          <p:nvPr/>
        </p:nvSpPr>
        <p:spPr>
          <a:xfrm xmlns:a="http://schemas.openxmlformats.org/drawingml/2006/main">
            <a:off x="609600" y="2619375"/>
            <a:ext cx="4953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0">
                <a:solidFill>
                  <a:srgbClr val="EEF4FA"/>
                </a:solidFill>
                <a:latin typeface="Arial"/>
                <a:ea typeface="Arial"/>
                <a:cs typeface="Arial"/>
              </a:defRPr>
            </a:defPPr>
            <a:lvl1pPr>
              <a:defRPr sz="2925" b="0">
                <a:solidFill>
                  <a:srgbClr val="EEF4FA"/>
                </a:solidFill>
                <a:latin typeface="Arial"/>
                <a:ea typeface="Arial"/>
                <a:cs typeface="Arial"/>
              </a:defRPr>
            </a:lvl1pPr>
            <a:lvl2pPr>
              <a:defRPr sz="2925" b="0">
                <a:solidFill>
                  <a:srgbClr val="EEF4FA"/>
                </a:solidFill>
                <a:latin typeface="Arial"/>
                <a:ea typeface="Arial"/>
                <a:cs typeface="Arial"/>
              </a:defRPr>
            </a:lvl2pPr>
            <a:lvl3pPr>
              <a:defRPr sz="2925" b="0">
                <a:solidFill>
                  <a:srgbClr val="EEF4FA"/>
                </a:solidFill>
                <a:latin typeface="Arial"/>
                <a:ea typeface="Arial"/>
                <a:cs typeface="Arial"/>
              </a:defRPr>
            </a:lvl3pPr>
            <a:lvl4pPr>
              <a:defRPr sz="2925" b="0">
                <a:solidFill>
                  <a:srgbClr val="EEF4FA"/>
                </a:solidFill>
                <a:latin typeface="Arial"/>
                <a:ea typeface="Arial"/>
                <a:cs typeface="Arial"/>
              </a:defRPr>
            </a:lvl4pPr>
            <a:lvl5pPr>
              <a:defRPr sz="2925" b="0">
                <a:solidFill>
                  <a:srgbClr val="EEF4FA"/>
                </a:solidFill>
                <a:latin typeface="Arial"/>
                <a:ea typeface="Arial"/>
                <a:cs typeface="Arial"/>
              </a:defRPr>
            </a:lvl5pPr>
            <a:lvl6pPr>
              <a:defRPr sz="2925" b="0">
                <a:solidFill>
                  <a:srgbClr val="EEF4FA"/>
                </a:solidFill>
                <a:latin typeface="Arial"/>
                <a:ea typeface="Arial"/>
                <a:cs typeface="Arial"/>
              </a:defRPr>
            </a:lvl6pPr>
            <a:lvl7pPr>
              <a:defRPr sz="2925" b="0">
                <a:solidFill>
                  <a:srgbClr val="EEF4FA"/>
                </a:solidFill>
                <a:latin typeface="Arial"/>
                <a:ea typeface="Arial"/>
                <a:cs typeface="Arial"/>
              </a:defRPr>
            </a:lvl7pPr>
            <a:lvl8pPr>
              <a:defRPr sz="2925" b="0">
                <a:solidFill>
                  <a:srgbClr val="EEF4FA"/>
                </a:solidFill>
                <a:latin typeface="Arial"/>
                <a:ea typeface="Arial"/>
                <a:cs typeface="Arial"/>
              </a:defRPr>
            </a:lvl8pPr>
            <a:lvl9pPr>
              <a:defRPr sz="2925" b="0">
                <a:solidFill>
                  <a:srgbClr val="EEF4FA"/>
                </a:solidFill>
                <a:latin typeface="Arial"/>
                <a:ea typeface="Arial"/>
                <a:cs typeface="Arial"/>
              </a:defRPr>
            </a:lvl9pPr>
          </a:lstStyle>
          <a:p xmlns:a="http://schemas.openxmlformats.org/drawingml/2006/main">
            <a:pPr>
              <a:defRPr sz="2925" b="0">
                <a:solidFill>
                  <a:srgbClr val="EEF4FA"/>
                </a:solidFill>
                <a:latin typeface="Arial"/>
                <a:ea typeface="Arial"/>
                <a:cs typeface="Arial"/>
              </a:defRPr>
            </a:pPr>
            <a:r>
              <a:rPr sz="2925" b="0">
                <a:solidFill>
                  <a:srgbClr val="EEF4FA"/>
                </a:solidFill>
                <a:latin typeface="Arial"/>
                <a:ea typeface="Arial"/>
                <a:cs typeface="Arial"/>
              </a:rPr>
              <a:t>a = ΣF / m</a:t>
            </a:r>
          </a:p>
          <a:p xmlns:a="http://schemas.openxmlformats.org/drawingml/2006/main">
            <a:pPr>
              <a:defRPr sz="2925" b="0">
                <a:solidFill>
                  <a:srgbClr val="EEF4FA"/>
                </a:solidFill>
                <a:latin typeface="Arial"/>
                <a:ea typeface="Arial"/>
                <a:cs typeface="Arial"/>
              </a:defRPr>
            </a:pPr>
            <a:r>
              <a:rPr sz="2925" b="0">
                <a:solidFill>
                  <a:srgbClr val="EEF4FA"/>
                </a:solidFill>
                <a:latin typeface="Arial"/>
                <a:ea typeface="Arial"/>
                <a:cs typeface="Arial"/>
              </a:rPr>
              <a:t>F = m g</a:t>
            </a:r>
          </a:p>
        </p:txBody>
      </p:sp>
      <p:sp>
        <p:nvSpPr>
          <p:cNvPr id="7" name="">
            <a:extLst xmlns:a="http://schemas.openxmlformats.org/drawingml/2006/main">
              <a:ext uri="{FF2B5EF4-FFF2-40B4-BE49-F238E27FC236}">
                <a16:creationId xmlns:a16="http://schemas.microsoft.com/office/drawing/2014/main" id="{C3FD06B4-5F50-4D79-A999-3BE3AB22A5B0}"/>
              </a:ext>
            </a:extLst>
          </p:cNvPr>
          <p:cNvSpPr>
            <a:spLocks xmlns:a="http://schemas.openxmlformats.org/drawingml/2006/main" noGrp="1"/>
          </p:cNvSpPr>
          <p:nvPr/>
        </p:nvSpPr>
        <p:spPr>
          <a:xfrm xmlns:a="http://schemas.openxmlformats.org/drawingml/2006/main">
            <a:off x="609600" y="4381500"/>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Gravite, RegistreForces</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et Particule</a:t>
            </a:r>
          </a:p>
        </p:txBody>
      </p:sp>
      <p:sp>
        <p:nvSpPr>
          <p:cNvPr id="8" name="">
            <a:extLst xmlns:a="http://schemas.openxmlformats.org/drawingml/2006/main">
              <a:ext uri="{FF2B5EF4-FFF2-40B4-BE49-F238E27FC236}">
                <a16:creationId xmlns:a16="http://schemas.microsoft.com/office/drawing/2014/main" id="{DC5FDCE6-6E16-4449-941B-BAC5B064C2F5}"/>
              </a:ext>
            </a:extLst>
          </p:cNvPr>
          <p:cNvSpPr>
            <a:spLocks xmlns:a="http://schemas.openxmlformats.org/drawingml/2006/main" noGrp="1"/>
          </p:cNvSpPr>
          <p:nvPr/>
        </p:nvSpPr>
        <p:spPr>
          <a:xfrm xmlns:a="http://schemas.openxmlformats.org/drawingml/2006/main">
            <a:off x="6419850" y="2105025"/>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FRICTION</a:t>
            </a:r>
          </a:p>
        </p:txBody>
      </p:sp>
      <p:sp>
        <p:nvSpPr>
          <p:cNvPr id="9" name="">
            <a:extLst xmlns:a="http://schemas.openxmlformats.org/drawingml/2006/main">
              <a:ext uri="{FF2B5EF4-FFF2-40B4-BE49-F238E27FC236}">
                <a16:creationId xmlns:a16="http://schemas.microsoft.com/office/drawing/2014/main" id="{A8DB188A-F96F-4912-B145-F7691B4E6EE7}"/>
              </a:ext>
            </a:extLst>
          </p:cNvPr>
          <p:cNvSpPr>
            <a:spLocks xmlns:a="http://schemas.openxmlformats.org/drawingml/2006/main" noGrp="1"/>
          </p:cNvSpPr>
          <p:nvPr/>
        </p:nvSpPr>
        <p:spPr>
          <a:xfrm xmlns:a="http://schemas.openxmlformats.org/drawingml/2006/main">
            <a:off x="6419850" y="261937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EEF4FA"/>
                </a:solidFill>
                <a:latin typeface="Arial"/>
                <a:ea typeface="Arial"/>
                <a:cs typeface="Arial"/>
              </a:defRPr>
            </a:defPPr>
            <a:lvl1pPr>
              <a:defRPr sz="2325" b="0">
                <a:solidFill>
                  <a:srgbClr val="EEF4FA"/>
                </a:solidFill>
                <a:latin typeface="Arial"/>
                <a:ea typeface="Arial"/>
                <a:cs typeface="Arial"/>
              </a:defRPr>
            </a:lvl1pPr>
            <a:lvl2pPr>
              <a:defRPr sz="2325" b="0">
                <a:solidFill>
                  <a:srgbClr val="EEF4FA"/>
                </a:solidFill>
                <a:latin typeface="Arial"/>
                <a:ea typeface="Arial"/>
                <a:cs typeface="Arial"/>
              </a:defRPr>
            </a:lvl2pPr>
            <a:lvl3pPr>
              <a:defRPr sz="2325" b="0">
                <a:solidFill>
                  <a:srgbClr val="EEF4FA"/>
                </a:solidFill>
                <a:latin typeface="Arial"/>
                <a:ea typeface="Arial"/>
                <a:cs typeface="Arial"/>
              </a:defRPr>
            </a:lvl3pPr>
            <a:lvl4pPr>
              <a:defRPr sz="2325" b="0">
                <a:solidFill>
                  <a:srgbClr val="EEF4FA"/>
                </a:solidFill>
                <a:latin typeface="Arial"/>
                <a:ea typeface="Arial"/>
                <a:cs typeface="Arial"/>
              </a:defRPr>
            </a:lvl4pPr>
            <a:lvl5pPr>
              <a:defRPr sz="2325" b="0">
                <a:solidFill>
                  <a:srgbClr val="EEF4FA"/>
                </a:solidFill>
                <a:latin typeface="Arial"/>
                <a:ea typeface="Arial"/>
                <a:cs typeface="Arial"/>
              </a:defRPr>
            </a:lvl5pPr>
            <a:lvl6pPr>
              <a:defRPr sz="2325" b="0">
                <a:solidFill>
                  <a:srgbClr val="EEF4FA"/>
                </a:solidFill>
                <a:latin typeface="Arial"/>
                <a:ea typeface="Arial"/>
                <a:cs typeface="Arial"/>
              </a:defRPr>
            </a:lvl6pPr>
            <a:lvl7pPr>
              <a:defRPr sz="2325" b="0">
                <a:solidFill>
                  <a:srgbClr val="EEF4FA"/>
                </a:solidFill>
                <a:latin typeface="Arial"/>
                <a:ea typeface="Arial"/>
                <a:cs typeface="Arial"/>
              </a:defRPr>
            </a:lvl7pPr>
            <a:lvl8pPr>
              <a:defRPr sz="2325" b="0">
                <a:solidFill>
                  <a:srgbClr val="EEF4FA"/>
                </a:solidFill>
                <a:latin typeface="Arial"/>
                <a:ea typeface="Arial"/>
                <a:cs typeface="Arial"/>
              </a:defRPr>
            </a:lvl8pPr>
            <a:lvl9pPr>
              <a:defRPr sz="2325" b="0">
                <a:solidFill>
                  <a:srgbClr val="EEF4FA"/>
                </a:solidFill>
                <a:latin typeface="Arial"/>
                <a:ea typeface="Arial"/>
                <a:cs typeface="Arial"/>
              </a:defRPr>
            </a:lvl9pPr>
          </a:lstStyle>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F = −(k₁‖v‖ + k₂‖v‖²) v̂</a:t>
            </a:r>
          </a:p>
        </p:txBody>
      </p:sp>
      <p:sp>
        <p:nvSpPr>
          <p:cNvPr id="10" name="">
            <a:extLst xmlns:a="http://schemas.openxmlformats.org/drawingml/2006/main">
              <a:ext uri="{FF2B5EF4-FFF2-40B4-BE49-F238E27FC236}">
                <a16:creationId xmlns:a16="http://schemas.microsoft.com/office/drawing/2014/main" id="{BD5F81C5-C9D9-4D1B-9FCF-357879088C8F}"/>
              </a:ext>
            </a:extLst>
          </p:cNvPr>
          <p:cNvSpPr>
            <a:spLocks xmlns:a="http://schemas.openxmlformats.org/drawingml/2006/main" noGrp="1"/>
          </p:cNvSpPr>
          <p:nvPr/>
        </p:nvSpPr>
        <p:spPr>
          <a:xfrm xmlns:a="http://schemas.openxmlformats.org/drawingml/2006/main">
            <a:off x="6419850" y="3895725"/>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EEF4FA"/>
                </a:solidFill>
                <a:latin typeface="Arial"/>
                <a:ea typeface="Arial"/>
                <a:cs typeface="Arial"/>
              </a:defRPr>
            </a:defPPr>
            <a:lvl1pPr>
              <a:defRPr sz="2175" b="0">
                <a:solidFill>
                  <a:srgbClr val="EEF4FA"/>
                </a:solidFill>
                <a:latin typeface="Arial"/>
                <a:ea typeface="Arial"/>
                <a:cs typeface="Arial"/>
              </a:defRPr>
            </a:lvl1pPr>
            <a:lvl2pPr>
              <a:defRPr sz="2175" b="0">
                <a:solidFill>
                  <a:srgbClr val="EEF4FA"/>
                </a:solidFill>
                <a:latin typeface="Arial"/>
                <a:ea typeface="Arial"/>
                <a:cs typeface="Arial"/>
              </a:defRPr>
            </a:lvl2pPr>
            <a:lvl3pPr>
              <a:defRPr sz="2175" b="0">
                <a:solidFill>
                  <a:srgbClr val="EEF4FA"/>
                </a:solidFill>
                <a:latin typeface="Arial"/>
                <a:ea typeface="Arial"/>
                <a:cs typeface="Arial"/>
              </a:defRPr>
            </a:lvl3pPr>
            <a:lvl4pPr>
              <a:defRPr sz="2175" b="0">
                <a:solidFill>
                  <a:srgbClr val="EEF4FA"/>
                </a:solidFill>
                <a:latin typeface="Arial"/>
                <a:ea typeface="Arial"/>
                <a:cs typeface="Arial"/>
              </a:defRPr>
            </a:lvl4pPr>
            <a:lvl5pPr>
              <a:defRPr sz="2175" b="0">
                <a:solidFill>
                  <a:srgbClr val="EEF4FA"/>
                </a:solidFill>
                <a:latin typeface="Arial"/>
                <a:ea typeface="Arial"/>
                <a:cs typeface="Arial"/>
              </a:defRPr>
            </a:lvl5pPr>
            <a:lvl6pPr>
              <a:defRPr sz="2175" b="0">
                <a:solidFill>
                  <a:srgbClr val="EEF4FA"/>
                </a:solidFill>
                <a:latin typeface="Arial"/>
                <a:ea typeface="Arial"/>
                <a:cs typeface="Arial"/>
              </a:defRPr>
            </a:lvl6pPr>
            <a:lvl7pPr>
              <a:defRPr sz="2175" b="0">
                <a:solidFill>
                  <a:srgbClr val="EEF4FA"/>
                </a:solidFill>
                <a:latin typeface="Arial"/>
                <a:ea typeface="Arial"/>
                <a:cs typeface="Arial"/>
              </a:defRPr>
            </a:lvl7pPr>
            <a:lvl8pPr>
              <a:defRPr sz="2175" b="0">
                <a:solidFill>
                  <a:srgbClr val="EEF4FA"/>
                </a:solidFill>
                <a:latin typeface="Arial"/>
                <a:ea typeface="Arial"/>
                <a:cs typeface="Arial"/>
              </a:defRPr>
            </a:lvl8pPr>
            <a:lvl9pPr>
              <a:defRPr sz="2175" b="0">
                <a:solidFill>
                  <a:srgbClr val="EEF4FA"/>
                </a:solidFill>
                <a:latin typeface="Arial"/>
                <a:ea typeface="Arial"/>
                <a:cs typeface="Arial"/>
              </a:defRPr>
            </a:lvl9pPr>
          </a:lstStyle>
          <a:p xmlns:a="http://schemas.openxmlformats.org/drawingml/2006/main">
            <a:pPr>
              <a:defRPr sz="2175" b="0">
                <a:solidFill>
                  <a:srgbClr val="EEF4FA"/>
                </a:solidFill>
                <a:latin typeface="Arial"/>
                <a:ea typeface="Arial"/>
                <a:cs typeface="Arial"/>
              </a:defRPr>
            </a:pPr>
            <a:r>
              <a:rPr sz="2175" b="0">
                <a:solidFill>
                  <a:srgbClr val="EEF4FA"/>
                </a:solidFill>
                <a:latin typeface="Arial"/>
                <a:ea typeface="Arial"/>
                <a:cs typeface="Arial"/>
              </a:rPr>
              <a:t>Repos : ‖F‖ ≤ μₛ N</a:t>
            </a:r>
          </a:p>
          <a:p xmlns:a="http://schemas.openxmlformats.org/drawingml/2006/main">
            <a:pPr>
              <a:defRPr sz="2175" b="0">
                <a:solidFill>
                  <a:srgbClr val="EEF4FA"/>
                </a:solidFill>
                <a:latin typeface="Arial"/>
                <a:ea typeface="Arial"/>
                <a:cs typeface="Arial"/>
              </a:defRPr>
            </a:pPr>
            <a:r>
              <a:rPr sz="2175" b="0">
                <a:solidFill>
                  <a:srgbClr val="EEF4FA"/>
                </a:solidFill>
                <a:latin typeface="Arial"/>
                <a:ea typeface="Arial"/>
                <a:cs typeface="Arial"/>
              </a:rPr>
              <a:t>Glissement : ‖F‖ = μₖ N</a:t>
            </a:r>
          </a:p>
        </p:txBody>
      </p:sp>
      <p:sp>
        <p:nvSpPr>
          <p:cNvPr id="11" name="">
            <a:extLst xmlns:a="http://schemas.openxmlformats.org/drawingml/2006/main">
              <a:ext uri="{FF2B5EF4-FFF2-40B4-BE49-F238E27FC236}">
                <a16:creationId xmlns:a16="http://schemas.microsoft.com/office/drawing/2014/main" id="{DE17B15A-1E7D-4A4F-8AA3-DE30DFA0060B}"/>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Scène 8 : force 130 &lt; seuil statique 216 ; les flèches appliquent 650.</a:t>
            </a:r>
          </a:p>
        </p:txBody>
      </p:sp>
    </p:spTree>
    <p:extLst>
      <p:ext uri="{BB962C8B-B14F-4D97-AF65-F5344CB8AC3E}">
        <p14:creationId xmlns:p14="http://schemas.microsoft.com/office/powerpoint/2010/main" val="2084222945"/>
      </p:ext>
    </p:extLst>
  </p:cSld>
</p:sld>
</file>

<file path=ppt/slides/slide6.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46C27A5-CCD1-40A4-94BF-62CD009C681B}"/>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Intégration et pas de temps</a:t>
            </a:r>
          </a:p>
        </p:txBody>
      </p:sp>
      <p:sp>
        <p:nvSpPr>
          <p:cNvPr id="3" name="">
            <a:extLst xmlns:a="http://schemas.openxmlformats.org/drawingml/2006/main">
              <a:ext uri="{FF2B5EF4-FFF2-40B4-BE49-F238E27FC236}">
                <a16:creationId xmlns:a16="http://schemas.microsoft.com/office/drawing/2014/main" id="{1DAEFB0E-C0D6-4CCE-9AC1-EA5E69E1CF8B}"/>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Euler explicite met à jour chaque particule</a:t>
            </a:r>
          </a:p>
        </p:txBody>
      </p:sp>
      <p:sp>
        <p:nvSpPr>
          <p:cNvPr id="4" name="">
            <a:extLst xmlns:a="http://schemas.openxmlformats.org/drawingml/2006/main">
              <a:ext uri="{FF2B5EF4-FFF2-40B4-BE49-F238E27FC236}">
                <a16:creationId xmlns:a16="http://schemas.microsoft.com/office/drawing/2014/main" id="{C3CA709F-BCE4-4292-9E59-82368B4E9EC3}"/>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C8DC45D3-9AF1-4ADD-AAE2-F0A20CDDE080}"/>
              </a:ext>
            </a:extLst>
          </p:cNvPr>
          <p:cNvSpPr>
            <a:spLocks xmlns:a="http://schemas.openxmlformats.org/drawingml/2006/main" noGrp="1"/>
          </p:cNvSpPr>
          <p:nvPr/>
        </p:nvSpPr>
        <p:spPr>
          <a:xfrm xmlns:a="http://schemas.openxmlformats.org/drawingml/2006/main">
            <a:off x="609600" y="2085975"/>
            <a:ext cx="742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DANS Particule.integrer(h)</a:t>
            </a:r>
          </a:p>
        </p:txBody>
      </p:sp>
      <p:sp>
        <p:nvSpPr>
          <p:cNvPr id="6" name="">
            <a:extLst xmlns:a="http://schemas.openxmlformats.org/drawingml/2006/main">
              <a:ext uri="{FF2B5EF4-FFF2-40B4-BE49-F238E27FC236}">
                <a16:creationId xmlns:a16="http://schemas.microsoft.com/office/drawing/2014/main" id="{C7A8DD40-5433-49B5-9CE8-2F88C83BC09D}"/>
              </a:ext>
            </a:extLst>
          </p:cNvPr>
          <p:cNvSpPr>
            <a:spLocks xmlns:a="http://schemas.openxmlformats.org/drawingml/2006/main" noGrp="1"/>
          </p:cNvSpPr>
          <p:nvPr/>
        </p:nvSpPr>
        <p:spPr>
          <a:xfrm xmlns:a="http://schemas.openxmlformats.org/drawingml/2006/main">
            <a:off x="609600" y="2628900"/>
            <a:ext cx="10972800" cy="2171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EEF4FA"/>
                </a:solidFill>
                <a:latin typeface="Arial"/>
                <a:ea typeface="Arial"/>
                <a:cs typeface="Arial"/>
              </a:defRPr>
            </a:defPPr>
            <a:lvl1pPr>
              <a:defRPr sz="2850" b="0">
                <a:solidFill>
                  <a:srgbClr val="EEF4FA"/>
                </a:solidFill>
                <a:latin typeface="Arial"/>
                <a:ea typeface="Arial"/>
                <a:cs typeface="Arial"/>
              </a:defRPr>
            </a:lvl1pPr>
            <a:lvl2pPr>
              <a:defRPr sz="2850" b="0">
                <a:solidFill>
                  <a:srgbClr val="EEF4FA"/>
                </a:solidFill>
                <a:latin typeface="Arial"/>
                <a:ea typeface="Arial"/>
                <a:cs typeface="Arial"/>
              </a:defRPr>
            </a:lvl2pPr>
            <a:lvl3pPr>
              <a:defRPr sz="2850" b="0">
                <a:solidFill>
                  <a:srgbClr val="EEF4FA"/>
                </a:solidFill>
                <a:latin typeface="Arial"/>
                <a:ea typeface="Arial"/>
                <a:cs typeface="Arial"/>
              </a:defRPr>
            </a:lvl3pPr>
            <a:lvl4pPr>
              <a:defRPr sz="2850" b="0">
                <a:solidFill>
                  <a:srgbClr val="EEF4FA"/>
                </a:solidFill>
                <a:latin typeface="Arial"/>
                <a:ea typeface="Arial"/>
                <a:cs typeface="Arial"/>
              </a:defRPr>
            </a:lvl4pPr>
            <a:lvl5pPr>
              <a:defRPr sz="2850" b="0">
                <a:solidFill>
                  <a:srgbClr val="EEF4FA"/>
                </a:solidFill>
                <a:latin typeface="Arial"/>
                <a:ea typeface="Arial"/>
                <a:cs typeface="Arial"/>
              </a:defRPr>
            </a:lvl5pPr>
            <a:lvl6pPr>
              <a:defRPr sz="2850" b="0">
                <a:solidFill>
                  <a:srgbClr val="EEF4FA"/>
                </a:solidFill>
                <a:latin typeface="Arial"/>
                <a:ea typeface="Arial"/>
                <a:cs typeface="Arial"/>
              </a:defRPr>
            </a:lvl6pPr>
            <a:lvl7pPr>
              <a:defRPr sz="2850" b="0">
                <a:solidFill>
                  <a:srgbClr val="EEF4FA"/>
                </a:solidFill>
                <a:latin typeface="Arial"/>
                <a:ea typeface="Arial"/>
                <a:cs typeface="Arial"/>
              </a:defRPr>
            </a:lvl7pPr>
            <a:lvl8pPr>
              <a:defRPr sz="2850" b="0">
                <a:solidFill>
                  <a:srgbClr val="EEF4FA"/>
                </a:solidFill>
                <a:latin typeface="Arial"/>
                <a:ea typeface="Arial"/>
                <a:cs typeface="Arial"/>
              </a:defRPr>
            </a:lvl8pPr>
            <a:lvl9pPr>
              <a:defRPr sz="2850" b="0">
                <a:solidFill>
                  <a:srgbClr val="EEF4FA"/>
                </a:solidFill>
                <a:latin typeface="Arial"/>
                <a:ea typeface="Arial"/>
                <a:cs typeface="Arial"/>
              </a:defRPr>
            </a:lvl9pPr>
          </a:lstStyle>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a(t) = a₀ + ΣF / m</a:t>
            </a:r>
          </a:p>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p(t+h) = p(t) + v(t) h</a:t>
            </a:r>
          </a:p>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v(t+h) = [v(t) + a(t) h] dʰ</a:t>
            </a:r>
          </a:p>
        </p:txBody>
      </p:sp>
      <p:sp>
        <p:nvSpPr>
          <p:cNvPr id="7" name="">
            <a:extLst xmlns:a="http://schemas.openxmlformats.org/drawingml/2006/main">
              <a:ext uri="{FF2B5EF4-FFF2-40B4-BE49-F238E27FC236}">
                <a16:creationId xmlns:a16="http://schemas.microsoft.com/office/drawing/2014/main" id="{581E742D-77F0-4A5F-AE2B-D06CAD7EABF8}"/>
              </a:ext>
            </a:extLst>
          </p:cNvPr>
          <p:cNvSpPr>
            <a:spLocks xmlns:a="http://schemas.openxmlformats.org/drawingml/2006/main" noGrp="1"/>
          </p:cNvSpPr>
          <p:nvPr/>
        </p:nvSpPr>
        <p:spPr>
          <a:xfrm xmlns:a="http://schemas.openxmlformats.org/drawingml/2006/main">
            <a:off x="609600" y="52768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0">
                <a:solidFill>
                  <a:srgbClr val="EEF4FA"/>
                </a:solidFill>
                <a:latin typeface="Arial"/>
                <a:ea typeface="Arial"/>
                <a:cs typeface="Arial"/>
              </a:defRPr>
            </a:defPPr>
            <a:lvl1pPr>
              <a:defRPr sz="2850" b="0">
                <a:solidFill>
                  <a:srgbClr val="EEF4FA"/>
                </a:solidFill>
                <a:latin typeface="Arial"/>
                <a:ea typeface="Arial"/>
                <a:cs typeface="Arial"/>
              </a:defRPr>
            </a:lvl1pPr>
            <a:lvl2pPr>
              <a:defRPr sz="2850" b="0">
                <a:solidFill>
                  <a:srgbClr val="EEF4FA"/>
                </a:solidFill>
                <a:latin typeface="Arial"/>
                <a:ea typeface="Arial"/>
                <a:cs typeface="Arial"/>
              </a:defRPr>
            </a:lvl2pPr>
            <a:lvl3pPr>
              <a:defRPr sz="2850" b="0">
                <a:solidFill>
                  <a:srgbClr val="EEF4FA"/>
                </a:solidFill>
                <a:latin typeface="Arial"/>
                <a:ea typeface="Arial"/>
                <a:cs typeface="Arial"/>
              </a:defRPr>
            </a:lvl3pPr>
            <a:lvl4pPr>
              <a:defRPr sz="2850" b="0">
                <a:solidFill>
                  <a:srgbClr val="EEF4FA"/>
                </a:solidFill>
                <a:latin typeface="Arial"/>
                <a:ea typeface="Arial"/>
                <a:cs typeface="Arial"/>
              </a:defRPr>
            </a:lvl4pPr>
            <a:lvl5pPr>
              <a:defRPr sz="2850" b="0">
                <a:solidFill>
                  <a:srgbClr val="EEF4FA"/>
                </a:solidFill>
                <a:latin typeface="Arial"/>
                <a:ea typeface="Arial"/>
                <a:cs typeface="Arial"/>
              </a:defRPr>
            </a:lvl5pPr>
            <a:lvl6pPr>
              <a:defRPr sz="2850" b="0">
                <a:solidFill>
                  <a:srgbClr val="EEF4FA"/>
                </a:solidFill>
                <a:latin typeface="Arial"/>
                <a:ea typeface="Arial"/>
                <a:cs typeface="Arial"/>
              </a:defRPr>
            </a:lvl6pPr>
            <a:lvl7pPr>
              <a:defRPr sz="2850" b="0">
                <a:solidFill>
                  <a:srgbClr val="EEF4FA"/>
                </a:solidFill>
                <a:latin typeface="Arial"/>
                <a:ea typeface="Arial"/>
                <a:cs typeface="Arial"/>
              </a:defRPr>
            </a:lvl7pPr>
            <a:lvl8pPr>
              <a:defRPr sz="2850" b="0">
                <a:solidFill>
                  <a:srgbClr val="EEF4FA"/>
                </a:solidFill>
                <a:latin typeface="Arial"/>
                <a:ea typeface="Arial"/>
                <a:cs typeface="Arial"/>
              </a:defRPr>
            </a:lvl8pPr>
            <a:lvl9pPr>
              <a:defRPr sz="2850" b="0">
                <a:solidFill>
                  <a:srgbClr val="EEF4FA"/>
                </a:solidFill>
                <a:latin typeface="Arial"/>
                <a:ea typeface="Arial"/>
                <a:cs typeface="Arial"/>
              </a:defRPr>
            </a:lvl9pPr>
          </a:lstStyle>
          <a:p xmlns:a="http://schemas.openxmlformats.org/drawingml/2006/main">
            <a:pPr>
              <a:defRPr sz="2850" b="0">
                <a:solidFill>
                  <a:srgbClr val="EEF4FA"/>
                </a:solidFill>
                <a:latin typeface="Arial"/>
                <a:ea typeface="Arial"/>
                <a:cs typeface="Arial"/>
              </a:defRPr>
            </a:pPr>
            <a:r>
              <a:rPr sz="2850" b="0">
                <a:solidFill>
                  <a:srgbClr val="EEF4FA"/>
                </a:solidFill>
                <a:latin typeface="Arial"/>
                <a:ea typeface="Arial"/>
                <a:cs typeface="Arial"/>
              </a:rPr>
              <a:t>h = 1/240 s</a:t>
            </a:r>
          </a:p>
        </p:txBody>
      </p:sp>
      <p:sp>
        <p:nvSpPr>
          <p:cNvPr id="8" name="">
            <a:extLst xmlns:a="http://schemas.openxmlformats.org/drawingml/2006/main">
              <a:ext uri="{FF2B5EF4-FFF2-40B4-BE49-F238E27FC236}">
                <a16:creationId xmlns:a16="http://schemas.microsoft.com/office/drawing/2014/main" id="{03409351-FA9F-43E7-AC11-1333116861A9}"/>
              </a:ext>
            </a:extLst>
          </p:cNvPr>
          <p:cNvSpPr>
            <a:spLocks xmlns:a="http://schemas.openxmlformats.org/drawingml/2006/main" noGrp="1"/>
          </p:cNvSpPr>
          <p:nvPr/>
        </p:nvSpPr>
        <p:spPr>
          <a:xfrm xmlns:a="http://schemas.openxmlformats.org/drawingml/2006/main">
            <a:off x="5619750" y="5324475"/>
            <a:ext cx="5953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EF4FA"/>
                </a:solidFill>
                <a:latin typeface="Arial"/>
                <a:ea typeface="Arial"/>
                <a:cs typeface="Arial"/>
              </a:defRPr>
            </a:defPPr>
            <a:lvl1pPr>
              <a:defRPr sz="1950" b="0">
                <a:solidFill>
                  <a:srgbClr val="EEF4FA"/>
                </a:solidFill>
                <a:latin typeface="Arial"/>
                <a:ea typeface="Arial"/>
                <a:cs typeface="Arial"/>
              </a:defRPr>
            </a:lvl1pPr>
            <a:lvl2pPr>
              <a:defRPr sz="1950" b="0">
                <a:solidFill>
                  <a:srgbClr val="EEF4FA"/>
                </a:solidFill>
                <a:latin typeface="Arial"/>
                <a:ea typeface="Arial"/>
                <a:cs typeface="Arial"/>
              </a:defRPr>
            </a:lvl2pPr>
            <a:lvl3pPr>
              <a:defRPr sz="1950" b="0">
                <a:solidFill>
                  <a:srgbClr val="EEF4FA"/>
                </a:solidFill>
                <a:latin typeface="Arial"/>
                <a:ea typeface="Arial"/>
                <a:cs typeface="Arial"/>
              </a:defRPr>
            </a:lvl3pPr>
            <a:lvl4pPr>
              <a:defRPr sz="1950" b="0">
                <a:solidFill>
                  <a:srgbClr val="EEF4FA"/>
                </a:solidFill>
                <a:latin typeface="Arial"/>
                <a:ea typeface="Arial"/>
                <a:cs typeface="Arial"/>
              </a:defRPr>
            </a:lvl4pPr>
            <a:lvl5pPr>
              <a:defRPr sz="1950" b="0">
                <a:solidFill>
                  <a:srgbClr val="EEF4FA"/>
                </a:solidFill>
                <a:latin typeface="Arial"/>
                <a:ea typeface="Arial"/>
                <a:cs typeface="Arial"/>
              </a:defRPr>
            </a:lvl5pPr>
            <a:lvl6pPr>
              <a:defRPr sz="1950" b="0">
                <a:solidFill>
                  <a:srgbClr val="EEF4FA"/>
                </a:solidFill>
                <a:latin typeface="Arial"/>
                <a:ea typeface="Arial"/>
                <a:cs typeface="Arial"/>
              </a:defRPr>
            </a:lvl6pPr>
            <a:lvl7pPr>
              <a:defRPr sz="1950" b="0">
                <a:solidFill>
                  <a:srgbClr val="EEF4FA"/>
                </a:solidFill>
                <a:latin typeface="Arial"/>
                <a:ea typeface="Arial"/>
                <a:cs typeface="Arial"/>
              </a:defRPr>
            </a:lvl7pPr>
            <a:lvl8pPr>
              <a:defRPr sz="1950" b="0">
                <a:solidFill>
                  <a:srgbClr val="EEF4FA"/>
                </a:solidFill>
                <a:latin typeface="Arial"/>
                <a:ea typeface="Arial"/>
                <a:cs typeface="Arial"/>
              </a:defRPr>
            </a:lvl8pPr>
            <a:lvl9pPr>
              <a:defRPr sz="1950" b="0">
                <a:solidFill>
                  <a:srgbClr val="EEF4FA"/>
                </a:solidFill>
                <a:latin typeface="Arial"/>
                <a:ea typeface="Arial"/>
                <a:cs typeface="Arial"/>
              </a:defRPr>
            </a:lvl9pPr>
          </a:lstStyle>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d : damping proche de 1</a:t>
            </a:r>
          </a:p>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Temps réel mesuré à chaque image</a:t>
            </a:r>
          </a:p>
        </p:txBody>
      </p:sp>
    </p:spTree>
    <p:extLst>
      <p:ext uri="{BB962C8B-B14F-4D97-AF65-F5344CB8AC3E}">
        <p14:creationId xmlns:p14="http://schemas.microsoft.com/office/powerpoint/2010/main" val="597212912"/>
      </p:ext>
    </p:extLst>
  </p:cSld>
</p:sld>
</file>

<file path=ppt/slides/slide7.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49E2A36-95B2-47CC-AE08-45CA6B8F2225}"/>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Ressorts et limite d’élasticité</a:t>
            </a:r>
          </a:p>
        </p:txBody>
      </p:sp>
      <p:sp>
        <p:nvSpPr>
          <p:cNvPr id="3" name="">
            <a:extLst xmlns:a="http://schemas.openxmlformats.org/drawingml/2006/main">
              <a:ext uri="{FF2B5EF4-FFF2-40B4-BE49-F238E27FC236}">
                <a16:creationId xmlns:a16="http://schemas.microsoft.com/office/drawing/2014/main" id="{35EB964A-2643-459B-83A3-82F6ADC6A4CB}"/>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Chaque lien du blob combine un ressort classique et un câble</a:t>
            </a:r>
          </a:p>
        </p:txBody>
      </p:sp>
      <p:sp>
        <p:nvSpPr>
          <p:cNvPr id="4" name="">
            <a:extLst xmlns:a="http://schemas.openxmlformats.org/drawingml/2006/main">
              <a:ext uri="{FF2B5EF4-FFF2-40B4-BE49-F238E27FC236}">
                <a16:creationId xmlns:a16="http://schemas.microsoft.com/office/drawing/2014/main" id="{AD97FC15-7D34-4DEA-8392-63FF0A8D1A69}"/>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C6CD0043-2F1D-431A-8B68-D4E612DF4BBB}"/>
              </a:ext>
            </a:extLst>
          </p:cNvPr>
          <p:cNvSpPr>
            <a:spLocks xmlns:a="http://schemas.openxmlformats.org/drawingml/2006/main" noGrp="1"/>
          </p:cNvSpPr>
          <p:nvPr/>
        </p:nvSpPr>
        <p:spPr>
          <a:xfrm xmlns:a="http://schemas.openxmlformats.org/drawingml/2006/main">
            <a:off x="609600" y="200025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EEF4FA"/>
                </a:solidFill>
                <a:latin typeface="Arial"/>
                <a:ea typeface="Arial"/>
                <a:cs typeface="Arial"/>
              </a:defRPr>
            </a:defPPr>
            <a:lvl1pPr>
              <a:defRPr sz="3000" b="0">
                <a:solidFill>
                  <a:srgbClr val="EEF4FA"/>
                </a:solidFill>
                <a:latin typeface="Arial"/>
                <a:ea typeface="Arial"/>
                <a:cs typeface="Arial"/>
              </a:defRPr>
            </a:lvl1pPr>
            <a:lvl2pPr>
              <a:defRPr sz="3000" b="0">
                <a:solidFill>
                  <a:srgbClr val="EEF4FA"/>
                </a:solidFill>
                <a:latin typeface="Arial"/>
                <a:ea typeface="Arial"/>
                <a:cs typeface="Arial"/>
              </a:defRPr>
            </a:lvl2pPr>
            <a:lvl3pPr>
              <a:defRPr sz="3000" b="0">
                <a:solidFill>
                  <a:srgbClr val="EEF4FA"/>
                </a:solidFill>
                <a:latin typeface="Arial"/>
                <a:ea typeface="Arial"/>
                <a:cs typeface="Arial"/>
              </a:defRPr>
            </a:lvl3pPr>
            <a:lvl4pPr>
              <a:defRPr sz="3000" b="0">
                <a:solidFill>
                  <a:srgbClr val="EEF4FA"/>
                </a:solidFill>
                <a:latin typeface="Arial"/>
                <a:ea typeface="Arial"/>
                <a:cs typeface="Arial"/>
              </a:defRPr>
            </a:lvl4pPr>
            <a:lvl5pPr>
              <a:defRPr sz="3000" b="0">
                <a:solidFill>
                  <a:srgbClr val="EEF4FA"/>
                </a:solidFill>
                <a:latin typeface="Arial"/>
                <a:ea typeface="Arial"/>
                <a:cs typeface="Arial"/>
              </a:defRPr>
            </a:lvl5pPr>
            <a:lvl6pPr>
              <a:defRPr sz="3000" b="0">
                <a:solidFill>
                  <a:srgbClr val="EEF4FA"/>
                </a:solidFill>
                <a:latin typeface="Arial"/>
                <a:ea typeface="Arial"/>
                <a:cs typeface="Arial"/>
              </a:defRPr>
            </a:lvl6pPr>
            <a:lvl7pPr>
              <a:defRPr sz="3000" b="0">
                <a:solidFill>
                  <a:srgbClr val="EEF4FA"/>
                </a:solidFill>
                <a:latin typeface="Arial"/>
                <a:ea typeface="Arial"/>
                <a:cs typeface="Arial"/>
              </a:defRPr>
            </a:lvl7pPr>
            <a:lvl8pPr>
              <a:defRPr sz="3000" b="0">
                <a:solidFill>
                  <a:srgbClr val="EEF4FA"/>
                </a:solidFill>
                <a:latin typeface="Arial"/>
                <a:ea typeface="Arial"/>
                <a:cs typeface="Arial"/>
              </a:defRPr>
            </a:lvl8pPr>
            <a:lvl9pPr>
              <a:defRPr sz="3000" b="0">
                <a:solidFill>
                  <a:srgbClr val="EEF4FA"/>
                </a:solidFill>
                <a:latin typeface="Arial"/>
                <a:ea typeface="Arial"/>
                <a:cs typeface="Arial"/>
              </a:defRPr>
            </a:lvl9pPr>
          </a:lstStyle>
          <a:p xmlns:a="http://schemas.openxmlformats.org/drawingml/2006/main">
            <a:pPr>
              <a:defRPr sz="3000" b="0">
                <a:solidFill>
                  <a:srgbClr val="EEF4FA"/>
                </a:solidFill>
                <a:latin typeface="Arial"/>
                <a:ea typeface="Arial"/>
                <a:cs typeface="Arial"/>
              </a:defRPr>
            </a:pPr>
            <a:r>
              <a:rPr sz="3000" b="0">
                <a:solidFill>
                  <a:srgbClr val="EEF4FA"/>
                </a:solidFill>
                <a:latin typeface="Arial"/>
                <a:ea typeface="Arial"/>
                <a:cs typeface="Arial"/>
              </a:rPr>
              <a:t>F = −k (ℓ − ℓ₀) n</a:t>
            </a:r>
          </a:p>
        </p:txBody>
      </p:sp>
      <p:sp>
        <p:nvSpPr>
          <p:cNvPr id="6" name="">
            <a:extLst xmlns:a="http://schemas.openxmlformats.org/drawingml/2006/main">
              <a:ext uri="{FF2B5EF4-FFF2-40B4-BE49-F238E27FC236}">
                <a16:creationId xmlns:a16="http://schemas.microsoft.com/office/drawing/2014/main" id="{B271E5CD-0C63-4F64-B3E9-4997231F948E}"/>
              </a:ext>
            </a:extLst>
          </p:cNvPr>
          <p:cNvSpPr>
            <a:spLocks xmlns:a="http://schemas.openxmlformats.org/drawingml/2006/main" noGrp="1"/>
          </p:cNvSpPr>
          <p:nvPr/>
        </p:nvSpPr>
        <p:spPr>
          <a:xfrm xmlns:a="http://schemas.openxmlformats.org/drawingml/2006/main">
            <a:off x="7334250" y="2085975"/>
            <a:ext cx="4238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FCE86"/>
                </a:solidFill>
                <a:latin typeface="Arial"/>
                <a:ea typeface="Arial"/>
                <a:cs typeface="Arial"/>
              </a:defRPr>
            </a:defPPr>
            <a:lvl1pPr>
              <a:defRPr sz="2250" b="0">
                <a:solidFill>
                  <a:srgbClr val="FFCE86"/>
                </a:solidFill>
                <a:latin typeface="Arial"/>
                <a:ea typeface="Arial"/>
                <a:cs typeface="Arial"/>
              </a:defRPr>
            </a:lvl1pPr>
            <a:lvl2pPr>
              <a:defRPr sz="2250" b="0">
                <a:solidFill>
                  <a:srgbClr val="FFCE86"/>
                </a:solidFill>
                <a:latin typeface="Arial"/>
                <a:ea typeface="Arial"/>
                <a:cs typeface="Arial"/>
              </a:defRPr>
            </a:lvl2pPr>
            <a:lvl3pPr>
              <a:defRPr sz="2250" b="0">
                <a:solidFill>
                  <a:srgbClr val="FFCE86"/>
                </a:solidFill>
                <a:latin typeface="Arial"/>
                <a:ea typeface="Arial"/>
                <a:cs typeface="Arial"/>
              </a:defRPr>
            </a:lvl3pPr>
            <a:lvl4pPr>
              <a:defRPr sz="2250" b="0">
                <a:solidFill>
                  <a:srgbClr val="FFCE86"/>
                </a:solidFill>
                <a:latin typeface="Arial"/>
                <a:ea typeface="Arial"/>
                <a:cs typeface="Arial"/>
              </a:defRPr>
            </a:lvl4pPr>
            <a:lvl5pPr>
              <a:defRPr sz="2250" b="0">
                <a:solidFill>
                  <a:srgbClr val="FFCE86"/>
                </a:solidFill>
                <a:latin typeface="Arial"/>
                <a:ea typeface="Arial"/>
                <a:cs typeface="Arial"/>
              </a:defRPr>
            </a:lvl5pPr>
            <a:lvl6pPr>
              <a:defRPr sz="2250" b="0">
                <a:solidFill>
                  <a:srgbClr val="FFCE86"/>
                </a:solidFill>
                <a:latin typeface="Arial"/>
                <a:ea typeface="Arial"/>
                <a:cs typeface="Arial"/>
              </a:defRPr>
            </a:lvl6pPr>
            <a:lvl7pPr>
              <a:defRPr sz="2250" b="0">
                <a:solidFill>
                  <a:srgbClr val="FFCE86"/>
                </a:solidFill>
                <a:latin typeface="Arial"/>
                <a:ea typeface="Arial"/>
                <a:cs typeface="Arial"/>
              </a:defRPr>
            </a:lvl7pPr>
            <a:lvl8pPr>
              <a:defRPr sz="2250" b="0">
                <a:solidFill>
                  <a:srgbClr val="FFCE86"/>
                </a:solidFill>
                <a:latin typeface="Arial"/>
                <a:ea typeface="Arial"/>
                <a:cs typeface="Arial"/>
              </a:defRPr>
            </a:lvl8pPr>
            <a:lvl9pPr>
              <a:defRPr sz="2250" b="0">
                <a:solidFill>
                  <a:srgbClr val="FFCE86"/>
                </a:solidFill>
                <a:latin typeface="Arial"/>
                <a:ea typeface="Arial"/>
                <a:cs typeface="Arial"/>
              </a:defRPr>
            </a:lvl9pPr>
          </a:lstStyle>
          <a:p xmlns:a="http://schemas.openxmlformats.org/drawingml/2006/main">
            <a:pPr>
              <a:defRPr sz="2250" b="0">
                <a:solidFill>
                  <a:srgbClr val="FFCE86"/>
                </a:solidFill>
                <a:latin typeface="Arial"/>
                <a:ea typeface="Arial"/>
                <a:cs typeface="Arial"/>
              </a:defRPr>
            </a:pPr>
            <a:r>
              <a:rPr sz="2250" b="0">
                <a:solidFill>
                  <a:srgbClr val="FFCE86"/>
                </a:solidFill>
                <a:latin typeface="Arial"/>
                <a:ea typeface="Arial"/>
                <a:cs typeface="Arial"/>
              </a:rPr>
              <a:t>Câble : ℓ ≤ 1,55 ℓ₀</a:t>
            </a:r>
          </a:p>
        </p:txBody>
      </p:sp>
      <p:graphicFrame>
        <p:nvGraphicFramePr>
          <p:cNvPr id="7" name="">
            <a:extLst xmlns:a="http://schemas.openxmlformats.org/drawingml/2006/main">
              <a:ext uri="{FF2B5EF4-FFF2-40B4-BE49-F238E27FC236}">
                <a16:creationId xmlns:a16="http://schemas.microsoft.com/office/drawing/2014/main" id="{9D57DCF5-1E1A-4680-B1E2-F83927E3AEAD}"/>
              </a:ext>
            </a:extLst>
          </p:cNvPr>
          <p:cNvGraphicFramePr/>
          <p:nvPr/>
        </p:nvGraphicFramePr>
        <p:xfrm>
          <a:off xmlns:a="http://schemas.openxmlformats.org/drawingml/2006/main" x="609600" y="3048000"/>
          <a:ext xmlns:a="http://schemas.openxmlformats.org/drawingml/2006/main" cx="10972800" cy="2667000"/>
        </p:xfrm>
        <a:graphic xmlns:a="http://schemas.openxmlformats.org/drawingml/2006/main">
          <a:graphicData uri="http://schemas.openxmlformats.org/drawingml/2006/table">
            <a:tbl>
              <a:tblPr/>
              <a:tblGrid>
                <a:gridCol w="1238250"/>
                <a:gridCol w="3667125"/>
                <a:gridCol w="6067425"/>
              </a:tblGrid>
              <a:tr h="533400">
                <a:tc>
                  <a:txBody>
                    <a:bodyPr/>
                    <a:lstStyle/>
                    <a:p>
                      <a:r>
                        <a:rPr sz="1800" b="1">
                          <a:solidFill>
                            <a:srgbClr val="6ADDB2"/>
                          </a:solidFill>
                          <a:latin typeface="Arial"/>
                          <a:ea typeface="Arial"/>
                          <a:cs typeface="Arial"/>
                        </a:rPr>
                        <a:t>Scène</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Générateur</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Comportement</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533400">
                <a:tc>
                  <a:txBody>
                    <a:bodyPr/>
                    <a:lstStyle/>
                    <a:p>
                      <a:r>
                        <a:rPr sz="1800" b="0">
                          <a:solidFill>
                            <a:srgbClr val="EEF4FA"/>
                          </a:solidFill>
                          <a:latin typeface="Arial"/>
                          <a:ea typeface="Arial"/>
                          <a:cs typeface="Arial"/>
                        </a:rPr>
                        <a:t>2</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classique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Deux particules, étirement et compression</a:t>
                      </a:r>
                    </a:p>
                  </a:txBody>
                  <a:tcPr marL="91440" marR="91440" marT="45720" marB="45720">
                    <a:lnR w="9525">
                      <a:solidFill>
                        <a:srgbClr val="334459"/>
                      </a:solidFill>
                      <a:prstDash val="solid"/>
                    </a:lnR>
                    <a:lnB w="9525">
                      <a:solidFill>
                        <a:srgbClr val="334459"/>
                      </a:solidFill>
                      <a:prstDash val="solid"/>
                    </a:lnB>
                    <a:solidFill>
                      <a:srgbClr val="131B2B"/>
                    </a:solidFill>
                  </a:tcPr>
                </a:tc>
              </a:tr>
              <a:tr h="533400">
                <a:tc>
                  <a:txBody>
                    <a:bodyPr/>
                    <a:lstStyle/>
                    <a:p>
                      <a:r>
                        <a:rPr sz="1800" b="0">
                          <a:solidFill>
                            <a:srgbClr val="EEF4FA"/>
                          </a:solidFill>
                          <a:latin typeface="Arial"/>
                          <a:ea typeface="Arial"/>
                          <a:cs typeface="Arial"/>
                        </a:rPr>
                        <a:t>3</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ancré</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Une particule et un point fixe</a:t>
                      </a:r>
                    </a:p>
                  </a:txBody>
                  <a:tcPr marL="91440" marR="91440" marT="45720" marB="45720">
                    <a:lnR w="9525">
                      <a:solidFill>
                        <a:srgbClr val="334459"/>
                      </a:solidFill>
                      <a:prstDash val="solid"/>
                    </a:lnR>
                    <a:lnB w="9525">
                      <a:solidFill>
                        <a:srgbClr val="334459"/>
                      </a:solidFill>
                      <a:prstDash val="solid"/>
                    </a:lnB>
                    <a:solidFill>
                      <a:srgbClr val="131B2B"/>
                    </a:solidFill>
                  </a:tcPr>
                </a:tc>
              </a:tr>
              <a:tr h="533400">
                <a:tc>
                  <a:txBody>
                    <a:bodyPr/>
                    <a:lstStyle/>
                    <a:p>
                      <a:r>
                        <a:rPr sz="1800" b="0">
                          <a:solidFill>
                            <a:srgbClr val="EEF4FA"/>
                          </a:solidFill>
                          <a:latin typeface="Arial"/>
                          <a:ea typeface="Arial"/>
                          <a:cs typeface="Arial"/>
                        </a:rPr>
                        <a:t>4</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Bungee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Traction seulement si ℓ &gt; ℓ₀</a:t>
                      </a:r>
                    </a:p>
                  </a:txBody>
                  <a:tcPr marL="91440" marR="91440" marT="45720" marB="45720">
                    <a:lnR w="9525">
                      <a:solidFill>
                        <a:srgbClr val="334459"/>
                      </a:solidFill>
                      <a:prstDash val="solid"/>
                    </a:lnR>
                    <a:lnB w="9525">
                      <a:solidFill>
                        <a:srgbClr val="334459"/>
                      </a:solidFill>
                      <a:prstDash val="solid"/>
                    </a:lnB>
                    <a:solidFill>
                      <a:srgbClr val="131B2B"/>
                    </a:solidFill>
                  </a:tcPr>
                </a:tc>
              </a:tr>
              <a:tr h="533400">
                <a:tc>
                  <a:txBody>
                    <a:bodyPr/>
                    <a:lstStyle/>
                    <a:p>
                      <a:r>
                        <a:rPr sz="1800" b="0">
                          <a:solidFill>
                            <a:srgbClr val="EEF4FA"/>
                          </a:solidFill>
                          <a:latin typeface="Arial"/>
                          <a:ea typeface="Arial"/>
                          <a:cs typeface="Arial"/>
                        </a:rPr>
                        <a:t>5</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rigide factice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Vitesse cible issue de la solution amortie</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8" name="">
            <a:extLst xmlns:a="http://schemas.openxmlformats.org/drawingml/2006/main">
              <a:ext uri="{FF2B5EF4-FFF2-40B4-BE49-F238E27FC236}">
                <a16:creationId xmlns:a16="http://schemas.microsoft.com/office/drawing/2014/main" id="{3B258234-7ABF-4E4C-92DC-02DE73521E51}"/>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Deux générateurs par lien mobile : FA = −FB.</a:t>
            </a:r>
          </a:p>
        </p:txBody>
      </p:sp>
    </p:spTree>
    <p:extLst>
      <p:ext uri="{BB962C8B-B14F-4D97-AF65-F5344CB8AC3E}">
        <p14:creationId xmlns:p14="http://schemas.microsoft.com/office/powerpoint/2010/main" val="1771361131"/>
      </p:ext>
    </p:extLst>
  </p:cSld>
</p:sld>
</file>

<file path=ppt/slides/slide8.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252F7F-8DF9-459B-994E-E1DE82FB4D3A}"/>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Détection et résolution des collisions</a:t>
            </a:r>
          </a:p>
        </p:txBody>
      </p:sp>
      <p:sp>
        <p:nvSpPr>
          <p:cNvPr id="3" name="">
            <a:extLst xmlns:a="http://schemas.openxmlformats.org/drawingml/2006/main">
              <a:ext uri="{FF2B5EF4-FFF2-40B4-BE49-F238E27FC236}">
                <a16:creationId xmlns:a16="http://schemas.microsoft.com/office/drawing/2014/main" id="{8C2E9B31-2314-4147-B7A7-F6B353AD1AAB}"/>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 contact fournit une normale, une profondeur et une restitution</a:t>
            </a:r>
          </a:p>
        </p:txBody>
      </p:sp>
      <p:sp>
        <p:nvSpPr>
          <p:cNvPr id="4" name="">
            <a:extLst xmlns:a="http://schemas.openxmlformats.org/drawingml/2006/main">
              <a:ext uri="{FF2B5EF4-FFF2-40B4-BE49-F238E27FC236}">
                <a16:creationId xmlns:a16="http://schemas.microsoft.com/office/drawing/2014/main" id="{935E3E08-666C-4220-BB4D-47178F0B740B}"/>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E57DE35-C352-412C-A5B3-7396BCA38765}"/>
              </a:ext>
            </a:extLst>
          </p:cNvPr>
          <p:cNvSpPr>
            <a:spLocks xmlns:a="http://schemas.openxmlformats.org/drawingml/2006/main" noGrp="1"/>
          </p:cNvSpPr>
          <p:nvPr/>
        </p:nvSpPr>
        <p:spPr>
          <a:xfrm xmlns:a="http://schemas.openxmlformats.org/drawingml/2006/main">
            <a:off x="609600" y="20955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DÉTECTER</a:t>
            </a:r>
          </a:p>
        </p:txBody>
      </p:sp>
      <p:sp>
        <p:nvSpPr>
          <p:cNvPr id="6" name="">
            <a:extLst xmlns:a="http://schemas.openxmlformats.org/drawingml/2006/main">
              <a:ext uri="{FF2B5EF4-FFF2-40B4-BE49-F238E27FC236}">
                <a16:creationId xmlns:a16="http://schemas.microsoft.com/office/drawing/2014/main" id="{1B477001-31D6-4447-A48B-8863BDA66F98}"/>
              </a:ext>
            </a:extLst>
          </p:cNvPr>
          <p:cNvSpPr>
            <a:spLocks xmlns:a="http://schemas.openxmlformats.org/drawingml/2006/main" noGrp="1"/>
          </p:cNvSpPr>
          <p:nvPr/>
        </p:nvSpPr>
        <p:spPr>
          <a:xfrm xmlns:a="http://schemas.openxmlformats.org/drawingml/2006/main">
            <a:off x="609600" y="2638425"/>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d &lt; rA + rB</a:t>
            </a:r>
          </a:p>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δ = rA + rB − d</a:t>
            </a:r>
          </a:p>
        </p:txBody>
      </p:sp>
      <p:sp>
        <p:nvSpPr>
          <p:cNvPr id="7" name="">
            <a:extLst xmlns:a="http://schemas.openxmlformats.org/drawingml/2006/main">
              <a:ext uri="{FF2B5EF4-FFF2-40B4-BE49-F238E27FC236}">
                <a16:creationId xmlns:a16="http://schemas.microsoft.com/office/drawing/2014/main" id="{AD0E2E38-B723-4E5B-B21B-830EEB2CEFB1}"/>
              </a:ext>
            </a:extLst>
          </p:cNvPr>
          <p:cNvSpPr>
            <a:spLocks xmlns:a="http://schemas.openxmlformats.org/drawingml/2006/main" noGrp="1"/>
          </p:cNvSpPr>
          <p:nvPr/>
        </p:nvSpPr>
        <p:spPr>
          <a:xfrm xmlns:a="http://schemas.openxmlformats.org/drawingml/2006/main">
            <a:off x="609600" y="43434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La correction de position dépend</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des inverses de masse.</a:t>
            </a:r>
          </a:p>
        </p:txBody>
      </p:sp>
      <p:sp>
        <p:nvSpPr>
          <p:cNvPr id="8" name="">
            <a:extLst xmlns:a="http://schemas.openxmlformats.org/drawingml/2006/main">
              <a:ext uri="{FF2B5EF4-FFF2-40B4-BE49-F238E27FC236}">
                <a16:creationId xmlns:a16="http://schemas.microsoft.com/office/drawing/2014/main" id="{42BEA65B-29A9-458D-A7DD-16D50DFB74D5}"/>
              </a:ext>
            </a:extLst>
          </p:cNvPr>
          <p:cNvSpPr>
            <a:spLocks xmlns:a="http://schemas.openxmlformats.org/drawingml/2006/main" noGrp="1"/>
          </p:cNvSpPr>
          <p:nvPr/>
        </p:nvSpPr>
        <p:spPr>
          <a:xfrm xmlns:a="http://schemas.openxmlformats.org/drawingml/2006/main">
            <a:off x="6419850" y="20955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RÉSOUDRE PAR IMPULSION</a:t>
            </a:r>
          </a:p>
        </p:txBody>
      </p:sp>
      <p:sp>
        <p:nvSpPr>
          <p:cNvPr id="9" name="">
            <a:extLst xmlns:a="http://schemas.openxmlformats.org/drawingml/2006/main">
              <a:ext uri="{FF2B5EF4-FFF2-40B4-BE49-F238E27FC236}">
                <a16:creationId xmlns:a16="http://schemas.microsoft.com/office/drawing/2014/main" id="{532A2D7E-8B5D-4718-B104-11AE6A74F890}"/>
              </a:ext>
            </a:extLst>
          </p:cNvPr>
          <p:cNvSpPr>
            <a:spLocks xmlns:a="http://schemas.openxmlformats.org/drawingml/2006/main" noGrp="1"/>
          </p:cNvSpPr>
          <p:nvPr/>
        </p:nvSpPr>
        <p:spPr>
          <a:xfrm xmlns:a="http://schemas.openxmlformats.org/drawingml/2006/main">
            <a:off x="6419850" y="2638425"/>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EEF4FA"/>
                </a:solidFill>
                <a:latin typeface="Arial"/>
                <a:ea typeface="Arial"/>
                <a:cs typeface="Arial"/>
              </a:defRPr>
            </a:defPPr>
            <a:lvl1pPr>
              <a:defRPr sz="2325" b="0">
                <a:solidFill>
                  <a:srgbClr val="EEF4FA"/>
                </a:solidFill>
                <a:latin typeface="Arial"/>
                <a:ea typeface="Arial"/>
                <a:cs typeface="Arial"/>
              </a:defRPr>
            </a:lvl1pPr>
            <a:lvl2pPr>
              <a:defRPr sz="2325" b="0">
                <a:solidFill>
                  <a:srgbClr val="EEF4FA"/>
                </a:solidFill>
                <a:latin typeface="Arial"/>
                <a:ea typeface="Arial"/>
                <a:cs typeface="Arial"/>
              </a:defRPr>
            </a:lvl2pPr>
            <a:lvl3pPr>
              <a:defRPr sz="2325" b="0">
                <a:solidFill>
                  <a:srgbClr val="EEF4FA"/>
                </a:solidFill>
                <a:latin typeface="Arial"/>
                <a:ea typeface="Arial"/>
                <a:cs typeface="Arial"/>
              </a:defRPr>
            </a:lvl3pPr>
            <a:lvl4pPr>
              <a:defRPr sz="2325" b="0">
                <a:solidFill>
                  <a:srgbClr val="EEF4FA"/>
                </a:solidFill>
                <a:latin typeface="Arial"/>
                <a:ea typeface="Arial"/>
                <a:cs typeface="Arial"/>
              </a:defRPr>
            </a:lvl4pPr>
            <a:lvl5pPr>
              <a:defRPr sz="2325" b="0">
                <a:solidFill>
                  <a:srgbClr val="EEF4FA"/>
                </a:solidFill>
                <a:latin typeface="Arial"/>
                <a:ea typeface="Arial"/>
                <a:cs typeface="Arial"/>
              </a:defRPr>
            </a:lvl5pPr>
            <a:lvl6pPr>
              <a:defRPr sz="2325" b="0">
                <a:solidFill>
                  <a:srgbClr val="EEF4FA"/>
                </a:solidFill>
                <a:latin typeface="Arial"/>
                <a:ea typeface="Arial"/>
                <a:cs typeface="Arial"/>
              </a:defRPr>
            </a:lvl6pPr>
            <a:lvl7pPr>
              <a:defRPr sz="2325" b="0">
                <a:solidFill>
                  <a:srgbClr val="EEF4FA"/>
                </a:solidFill>
                <a:latin typeface="Arial"/>
                <a:ea typeface="Arial"/>
                <a:cs typeface="Arial"/>
              </a:defRPr>
            </a:lvl7pPr>
            <a:lvl8pPr>
              <a:defRPr sz="2325" b="0">
                <a:solidFill>
                  <a:srgbClr val="EEF4FA"/>
                </a:solidFill>
                <a:latin typeface="Arial"/>
                <a:ea typeface="Arial"/>
                <a:cs typeface="Arial"/>
              </a:defRPr>
            </a:lvl8pPr>
            <a:lvl9pPr>
              <a:defRPr sz="2325" b="0">
                <a:solidFill>
                  <a:srgbClr val="EEF4FA"/>
                </a:solidFill>
                <a:latin typeface="Arial"/>
                <a:ea typeface="Arial"/>
                <a:cs typeface="Arial"/>
              </a:defRPr>
            </a:lvl9pPr>
          </a:lstStyle>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vsep = (vA − vB) · n</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v′sep = −e vsep</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j = (v′sep − vsep) / (wA + wB)</a:t>
            </a:r>
          </a:p>
        </p:txBody>
      </p:sp>
      <p:sp>
        <p:nvSpPr>
          <p:cNvPr id="10" name="">
            <a:extLst xmlns:a="http://schemas.openxmlformats.org/drawingml/2006/main">
              <a:ext uri="{FF2B5EF4-FFF2-40B4-BE49-F238E27FC236}">
                <a16:creationId xmlns:a16="http://schemas.microsoft.com/office/drawing/2014/main" id="{0EBC8500-D136-4846-9F24-6A6DFA7D4DCE}"/>
              </a:ext>
            </a:extLst>
          </p:cNvPr>
          <p:cNvSpPr>
            <a:spLocks xmlns:a="http://schemas.openxmlformats.org/drawingml/2006/main" noGrp="1"/>
          </p:cNvSpPr>
          <p:nvPr/>
        </p:nvSpPr>
        <p:spPr>
          <a:xfrm xmlns:a="http://schemas.openxmlformats.org/drawingml/2006/main">
            <a:off x="6419850" y="465772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vA reçoit +j wA n</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vB reçoit −j wB n</a:t>
            </a:r>
          </a:p>
        </p:txBody>
      </p:sp>
      <p:sp>
        <p:nvSpPr>
          <p:cNvPr id="11" name="">
            <a:extLst xmlns:a="http://schemas.openxmlformats.org/drawingml/2006/main">
              <a:ext uri="{FF2B5EF4-FFF2-40B4-BE49-F238E27FC236}">
                <a16:creationId xmlns:a16="http://schemas.microsoft.com/office/drawing/2014/main" id="{E2991040-AE23-4D0A-9DD3-99BA07B47129}"/>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Convention : n va de B vers A ; w = 1/m.</a:t>
            </a:r>
          </a:p>
        </p:txBody>
      </p:sp>
    </p:spTree>
    <p:extLst>
      <p:ext uri="{BB962C8B-B14F-4D97-AF65-F5344CB8AC3E}">
        <p14:creationId xmlns:p14="http://schemas.microsoft.com/office/powerpoint/2010/main" val="1271155458"/>
      </p:ext>
    </p:extLst>
  </p:cSld>
</p:sld>
</file>

<file path=ppt/slides/slide9.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3C585F8-390D-4792-A3EB-C59D89D6DFA3}"/>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Contraintes et contacts au repos</a:t>
            </a:r>
          </a:p>
        </p:txBody>
      </p:sp>
      <p:sp>
        <p:nvSpPr>
          <p:cNvPr id="3" name="">
            <a:extLst xmlns:a="http://schemas.openxmlformats.org/drawingml/2006/main">
              <a:ext uri="{FF2B5EF4-FFF2-40B4-BE49-F238E27FC236}">
                <a16:creationId xmlns:a16="http://schemas.microsoft.com/office/drawing/2014/main" id="{BF54C6A4-8096-4F87-8402-7A38E4912511}"/>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Les contraintes réutilisent le système de contacts</a:t>
            </a:r>
          </a:p>
        </p:txBody>
      </p:sp>
      <p:sp>
        <p:nvSpPr>
          <p:cNvPr id="4" name="">
            <a:extLst xmlns:a="http://schemas.openxmlformats.org/drawingml/2006/main">
              <a:ext uri="{FF2B5EF4-FFF2-40B4-BE49-F238E27FC236}">
                <a16:creationId xmlns:a16="http://schemas.microsoft.com/office/drawing/2014/main" id="{BB490F28-2B2D-434A-B9AE-8074551130BD}"/>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2864EF78-7058-4393-AF95-566C71FA4CB4}"/>
              </a:ext>
            </a:extLst>
          </p:cNvPr>
          <p:cNvGraphicFramePr/>
          <p:nvPr/>
        </p:nvGraphicFramePr>
        <p:xfrm>
          <a:off xmlns:a="http://schemas.openxmlformats.org/drawingml/2006/main" x="609600" y="2095500"/>
          <a:ext xmlns:a="http://schemas.openxmlformats.org/drawingml/2006/main" cx="10972800" cy="2857500"/>
        </p:xfrm>
        <a:graphic xmlns:a="http://schemas.openxmlformats.org/drawingml/2006/main">
          <a:graphicData uri="http://schemas.openxmlformats.org/drawingml/2006/table">
            <a:tbl>
              <a:tblPr/>
              <a:tblGrid>
                <a:gridCol w="2762250"/>
                <a:gridCol w="2762250"/>
                <a:gridCol w="5448300"/>
              </a:tblGrid>
              <a:tr h="714375">
                <a:tc>
                  <a:txBody>
                    <a:bodyPr/>
                    <a:lstStyle/>
                    <a:p>
                      <a:r>
                        <a:rPr sz="1875" b="1">
                          <a:solidFill>
                            <a:srgbClr val="6ADDB2"/>
                          </a:solidFill>
                          <a:latin typeface="Arial"/>
                          <a:ea typeface="Arial"/>
                          <a:cs typeface="Arial"/>
                        </a:rPr>
                        <a:t>Cas</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Condition</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Traitement</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714375">
                <a:tc>
                  <a:txBody>
                    <a:bodyPr/>
                    <a:lstStyle/>
                    <a:p>
                      <a:r>
                        <a:rPr sz="1875" b="0">
                          <a:solidFill>
                            <a:srgbClr val="EEF4FA"/>
                          </a:solidFill>
                          <a:latin typeface="Arial"/>
                          <a:ea typeface="Arial"/>
                          <a:cs typeface="Arial"/>
                        </a:rPr>
                        <a:t>Tige, scène 6</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ℓ = ℓ₀</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Rapprocher ou écarter les extrémités</a:t>
                      </a:r>
                    </a:p>
                  </a:txBody>
                  <a:tcPr marL="91440" marR="91440" marT="45720" marB="45720">
                    <a:lnR w="9525">
                      <a:solidFill>
                        <a:srgbClr val="334459"/>
                      </a:solidFill>
                      <a:prstDash val="solid"/>
                    </a:lnR>
                    <a:lnB w="9525">
                      <a:solidFill>
                        <a:srgbClr val="334459"/>
                      </a:solidFill>
                      <a:prstDash val="solid"/>
                    </a:lnB>
                    <a:solidFill>
                      <a:srgbClr val="131B2B"/>
                    </a:solidFill>
                  </a:tcPr>
                </a:tc>
              </a:tr>
              <a:tr h="714375">
                <a:tc>
                  <a:txBody>
                    <a:bodyPr/>
                    <a:lstStyle/>
                    <a:p>
                      <a:r>
                        <a:rPr sz="1875" b="0">
                          <a:solidFill>
                            <a:srgbClr val="EEF4FA"/>
                          </a:solidFill>
                          <a:latin typeface="Arial"/>
                          <a:ea typeface="Arial"/>
                          <a:cs typeface="Arial"/>
                        </a:rPr>
                        <a:t>Câble, scène 7</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ℓ ≤ ℓₘₐₓ</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Bloquer uniquement l’allongement excessif</a:t>
                      </a:r>
                    </a:p>
                  </a:txBody>
                  <a:tcPr marL="91440" marR="91440" marT="45720" marB="45720">
                    <a:lnR w="9525">
                      <a:solidFill>
                        <a:srgbClr val="334459"/>
                      </a:solidFill>
                      <a:prstDash val="solid"/>
                    </a:lnR>
                    <a:lnB w="9525">
                      <a:solidFill>
                        <a:srgbClr val="334459"/>
                      </a:solidFill>
                      <a:prstDash val="solid"/>
                    </a:lnB>
                    <a:solidFill>
                      <a:srgbClr val="131B2B"/>
                    </a:solidFill>
                  </a:tcPr>
                </a:tc>
              </a:tr>
              <a:tr h="714375">
                <a:tc>
                  <a:txBody>
                    <a:bodyPr/>
                    <a:lstStyle/>
                    <a:p>
                      <a:r>
                        <a:rPr sz="1875" b="0">
                          <a:solidFill>
                            <a:srgbClr val="EEF4FA"/>
                          </a:solidFill>
                          <a:latin typeface="Arial"/>
                          <a:ea typeface="Arial"/>
                          <a:cs typeface="Arial"/>
                        </a:rPr>
                        <a:t>Contact au repos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Vitesse due à a × h</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Réduire la restitution pour éviter le rebond</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6" name="">
            <a:extLst xmlns:a="http://schemas.openxmlformats.org/drawingml/2006/main">
              <a:ext uri="{FF2B5EF4-FFF2-40B4-BE49-F238E27FC236}">
                <a16:creationId xmlns:a16="http://schemas.microsoft.com/office/drawing/2014/main" id="{B2C0E2DD-F474-47CC-A0A3-BDC5F65451F0}"/>
              </a:ext>
            </a:extLst>
          </p:cNvPr>
          <p:cNvSpPr>
            <a:spLocks xmlns:a="http://schemas.openxmlformats.org/drawingml/2006/main" noGrp="1"/>
          </p:cNvSpPr>
          <p:nvPr/>
        </p:nvSpPr>
        <p:spPr>
          <a:xfrm xmlns:a="http://schemas.openxmlformats.org/drawingml/2006/main">
            <a:off x="609600" y="52863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EF4FA"/>
                </a:solidFill>
                <a:latin typeface="Arial"/>
                <a:ea typeface="Arial"/>
                <a:cs typeface="Arial"/>
              </a:defRPr>
            </a:defPPr>
            <a:lvl1pPr>
              <a:defRPr sz="2250" b="0">
                <a:solidFill>
                  <a:srgbClr val="EEF4FA"/>
                </a:solidFill>
                <a:latin typeface="Arial"/>
                <a:ea typeface="Arial"/>
                <a:cs typeface="Arial"/>
              </a:defRPr>
            </a:lvl1pPr>
            <a:lvl2pPr>
              <a:defRPr sz="2250" b="0">
                <a:solidFill>
                  <a:srgbClr val="EEF4FA"/>
                </a:solidFill>
                <a:latin typeface="Arial"/>
                <a:ea typeface="Arial"/>
                <a:cs typeface="Arial"/>
              </a:defRPr>
            </a:lvl2pPr>
            <a:lvl3pPr>
              <a:defRPr sz="2250" b="0">
                <a:solidFill>
                  <a:srgbClr val="EEF4FA"/>
                </a:solidFill>
                <a:latin typeface="Arial"/>
                <a:ea typeface="Arial"/>
                <a:cs typeface="Arial"/>
              </a:defRPr>
            </a:lvl3pPr>
            <a:lvl4pPr>
              <a:defRPr sz="2250" b="0">
                <a:solidFill>
                  <a:srgbClr val="EEF4FA"/>
                </a:solidFill>
                <a:latin typeface="Arial"/>
                <a:ea typeface="Arial"/>
                <a:cs typeface="Arial"/>
              </a:defRPr>
            </a:lvl4pPr>
            <a:lvl5pPr>
              <a:defRPr sz="2250" b="0">
                <a:solidFill>
                  <a:srgbClr val="EEF4FA"/>
                </a:solidFill>
                <a:latin typeface="Arial"/>
                <a:ea typeface="Arial"/>
                <a:cs typeface="Arial"/>
              </a:defRPr>
            </a:lvl5pPr>
            <a:lvl6pPr>
              <a:defRPr sz="2250" b="0">
                <a:solidFill>
                  <a:srgbClr val="EEF4FA"/>
                </a:solidFill>
                <a:latin typeface="Arial"/>
                <a:ea typeface="Arial"/>
                <a:cs typeface="Arial"/>
              </a:defRPr>
            </a:lvl6pPr>
            <a:lvl7pPr>
              <a:defRPr sz="2250" b="0">
                <a:solidFill>
                  <a:srgbClr val="EEF4FA"/>
                </a:solidFill>
                <a:latin typeface="Arial"/>
                <a:ea typeface="Arial"/>
                <a:cs typeface="Arial"/>
              </a:defRPr>
            </a:lvl7pPr>
            <a:lvl8pPr>
              <a:defRPr sz="2250" b="0">
                <a:solidFill>
                  <a:srgbClr val="EEF4FA"/>
                </a:solidFill>
                <a:latin typeface="Arial"/>
                <a:ea typeface="Arial"/>
                <a:cs typeface="Arial"/>
              </a:defRPr>
            </a:lvl8pPr>
            <a:lvl9pPr>
              <a:defRPr sz="2250" b="0">
                <a:solidFill>
                  <a:srgbClr val="EEF4FA"/>
                </a:solidFill>
                <a:latin typeface="Arial"/>
                <a:ea typeface="Arial"/>
                <a:cs typeface="Arial"/>
              </a:defRPr>
            </a:lvl9pPr>
          </a:lstStyle>
          <a:p xmlns:a="http://schemas.openxmlformats.org/drawingml/2006/main">
            <a:pPr>
              <a:defRPr sz="2250" b="0">
                <a:solidFill>
                  <a:srgbClr val="EEF4FA"/>
                </a:solidFill>
                <a:latin typeface="Arial"/>
                <a:ea typeface="Arial"/>
                <a:cs typeface="Arial"/>
              </a:defRPr>
            </a:pPr>
            <a:r>
              <a:rPr sz="2250" b="0">
                <a:solidFill>
                  <a:srgbClr val="EEF4FA"/>
                </a:solidFill>
                <a:latin typeface="Arial"/>
                <a:ea typeface="Arial"/>
                <a:cs typeface="Arial"/>
              </a:rPr>
              <a:t>L’accélération mémorisée inclut la gravité du générateur.</a:t>
            </a:r>
          </a:p>
        </p:txBody>
      </p:sp>
      <p:sp>
        <p:nvSpPr>
          <p:cNvPr id="7" name="">
            <a:extLst xmlns:a="http://schemas.openxmlformats.org/drawingml/2006/main">
              <a:ext uri="{FF2B5EF4-FFF2-40B4-BE49-F238E27FC236}">
                <a16:creationId xmlns:a16="http://schemas.microsoft.com/office/drawing/2014/main" id="{4C9AED65-2A06-42E5-A029-3E8F5ECA52C7}"/>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Particule.getAccelerationDerniereFrame() et Contact.resoudreVitesse()</a:t>
            </a:r>
          </a:p>
        </p:txBody>
      </p:sp>
    </p:spTree>
    <p:extLst>
      <p:ext uri="{BB962C8B-B14F-4D97-AF65-F5344CB8AC3E}">
        <p14:creationId xmlns:p14="http://schemas.microsoft.com/office/powerpoint/2010/main" val="59745091"/>
      </p:ext>
    </p:extLst>
  </p:cSld>
</p:sld>
</file>

<file path=ppt/slides/slide10.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9D7086-4345-4268-860F-D8DA299677D0}"/>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Séparation et fusion</a:t>
            </a:r>
          </a:p>
        </p:txBody>
      </p:sp>
      <p:sp>
        <p:nvSpPr>
          <p:cNvPr id="3" name="">
            <a:extLst xmlns:a="http://schemas.openxmlformats.org/drawingml/2006/main">
              <a:ext uri="{FF2B5EF4-FFF2-40B4-BE49-F238E27FC236}">
                <a16:creationId xmlns:a16="http://schemas.microsoft.com/office/drawing/2014/main" id="{12A75414-4BF5-4AAE-831D-63A274A242AF}"/>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Les morceaux sont les composantes connexes du réseau de liens</a:t>
            </a:r>
          </a:p>
        </p:txBody>
      </p:sp>
      <p:sp>
        <p:nvSpPr>
          <p:cNvPr id="4" name="">
            <a:extLst xmlns:a="http://schemas.openxmlformats.org/drawingml/2006/main">
              <a:ext uri="{FF2B5EF4-FFF2-40B4-BE49-F238E27FC236}">
                <a16:creationId xmlns:a16="http://schemas.microsoft.com/office/drawing/2014/main" id="{A27772C4-6EEE-4485-B34B-14CAD51F5813}"/>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10</a:t>
            </a:r>
          </a:p>
        </p:txBody>
      </p:sp>
      <p:sp>
        <p:nvSpPr>
          <p:cNvPr id="7" name="">
            <a:extLst xmlns:a="http://schemas.openxmlformats.org/drawingml/2006/main">
              <a:ext uri="{FF2B5EF4-FFF2-40B4-BE49-F238E27FC236}">
                <a16:creationId xmlns:a16="http://schemas.microsoft.com/office/drawing/2014/main" id="{DB1702B9-242C-4B46-92FB-CF003E879900}"/>
              </a:ext>
            </a:extLst>
          </p:cNvPr>
          <p:cNvSpPr>
            <a:spLocks xmlns:a="http://schemas.openxmlformats.org/drawingml/2006/main" noGrp="1"/>
          </p:cNvSpPr>
          <p:nvPr/>
        </p:nvSpPr>
        <p:spPr>
          <a:xfrm xmlns:a="http://schemas.openxmlformats.org/drawingml/2006/main">
            <a:off x="609600" y="53816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S : RETIRER DES LIENS</a:t>
            </a:r>
          </a:p>
        </p:txBody>
      </p:sp>
      <p:sp>
        <p:nvSpPr>
          <p:cNvPr id="8" name="">
            <a:extLst xmlns:a="http://schemas.openxmlformats.org/drawingml/2006/main">
              <a:ext uri="{FF2B5EF4-FFF2-40B4-BE49-F238E27FC236}">
                <a16:creationId xmlns:a16="http://schemas.microsoft.com/office/drawing/2014/main" id="{B6316508-5A4C-49AA-BDF2-BEBD54DE0E22}"/>
              </a:ext>
            </a:extLst>
          </p:cNvPr>
          <p:cNvSpPr>
            <a:spLocks xmlns:a="http://schemas.openxmlformats.org/drawingml/2006/main" noGrp="1"/>
          </p:cNvSpPr>
          <p:nvPr/>
        </p:nvSpPr>
        <p:spPr>
          <a:xfrm xmlns:a="http://schemas.openxmlformats.org/drawingml/2006/main">
            <a:off x="6324600" y="5381625"/>
            <a:ext cx="523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F : CRÉER UN PONT</a:t>
            </a:r>
          </a:p>
        </p:txBody>
      </p:sp>
      <p:sp>
        <p:nvSpPr>
          <p:cNvPr id="9" name="">
            <a:extLst xmlns:a="http://schemas.openxmlformats.org/drawingml/2006/main">
              <a:ext uri="{FF2B5EF4-FFF2-40B4-BE49-F238E27FC236}">
                <a16:creationId xmlns:a16="http://schemas.microsoft.com/office/drawing/2014/main" id="{EE494018-DF0B-4F43-800C-2D68A08886D0}"/>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Fusion possible à moins de 70 px entre deux particules de morceaux différents.</a:t>
            </a:r>
          </a:p>
        </p:txBody>
      </p:sp>
    </p:spTree>
    <p:extLst>
      <p:ext uri="{BB962C8B-B14F-4D97-AF65-F5344CB8AC3E}">
        <p14:creationId xmlns:p14="http://schemas.microsoft.com/office/powerpoint/2010/main" val="560646353"/>
      </p:ext>
    </p:extLst>
  </p:cSld>
</p:sld>
</file>

<file path=ppt/slides/slide11.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78CE2EF-BB24-4D94-8C4D-F2E6F627CCCE}"/>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Le compteur animé</a:t>
            </a:r>
          </a:p>
        </p:txBody>
      </p:sp>
      <p:sp>
        <p:nvSpPr>
          <p:cNvPr id="3" name="">
            <a:extLst xmlns:a="http://schemas.openxmlformats.org/drawingml/2006/main">
              <a:ext uri="{FF2B5EF4-FFF2-40B4-BE49-F238E27FC236}">
                <a16:creationId xmlns:a16="http://schemas.microsoft.com/office/drawing/2014/main" id="{47ADC6B7-021B-4A02-A292-A34ABAC1A919}"/>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Une oscillation amortie accompagne chaque changement de valeur</a:t>
            </a:r>
          </a:p>
        </p:txBody>
      </p:sp>
      <p:sp>
        <p:nvSpPr>
          <p:cNvPr id="4" name="">
            <a:extLst xmlns:a="http://schemas.openxmlformats.org/drawingml/2006/main">
              <a:ext uri="{FF2B5EF4-FFF2-40B4-BE49-F238E27FC236}">
                <a16:creationId xmlns:a16="http://schemas.microsoft.com/office/drawing/2014/main" id="{53A2B2E7-8D6F-40CF-91D2-12E4A2D671DD}"/>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4A85BEE7-B55B-4E6E-83F6-E33C7EBBD31B}"/>
              </a:ext>
            </a:extLst>
          </p:cNvPr>
          <p:cNvSpPr>
            <a:spLocks xmlns:a="http://schemas.openxmlformats.org/drawingml/2006/main" noGrp="1"/>
          </p:cNvSpPr>
          <p:nvPr/>
        </p:nvSpPr>
        <p:spPr>
          <a:xfrm xmlns:a="http://schemas.openxmlformats.org/drawingml/2006/main">
            <a:off x="609600" y="21336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EEF4FA"/>
                </a:solidFill>
                <a:latin typeface="Arial"/>
                <a:ea typeface="Arial"/>
                <a:cs typeface="Arial"/>
              </a:defRPr>
            </a:defPPr>
            <a:lvl1pPr>
              <a:defRPr sz="3150" b="0">
                <a:solidFill>
                  <a:srgbClr val="EEF4FA"/>
                </a:solidFill>
                <a:latin typeface="Arial"/>
                <a:ea typeface="Arial"/>
                <a:cs typeface="Arial"/>
              </a:defRPr>
            </a:lvl1pPr>
            <a:lvl2pPr>
              <a:defRPr sz="3150" b="0">
                <a:solidFill>
                  <a:srgbClr val="EEF4FA"/>
                </a:solidFill>
                <a:latin typeface="Arial"/>
                <a:ea typeface="Arial"/>
                <a:cs typeface="Arial"/>
              </a:defRPr>
            </a:lvl2pPr>
            <a:lvl3pPr>
              <a:defRPr sz="3150" b="0">
                <a:solidFill>
                  <a:srgbClr val="EEF4FA"/>
                </a:solidFill>
                <a:latin typeface="Arial"/>
                <a:ea typeface="Arial"/>
                <a:cs typeface="Arial"/>
              </a:defRPr>
            </a:lvl3pPr>
            <a:lvl4pPr>
              <a:defRPr sz="3150" b="0">
                <a:solidFill>
                  <a:srgbClr val="EEF4FA"/>
                </a:solidFill>
                <a:latin typeface="Arial"/>
                <a:ea typeface="Arial"/>
                <a:cs typeface="Arial"/>
              </a:defRPr>
            </a:lvl4pPr>
            <a:lvl5pPr>
              <a:defRPr sz="3150" b="0">
                <a:solidFill>
                  <a:srgbClr val="EEF4FA"/>
                </a:solidFill>
                <a:latin typeface="Arial"/>
                <a:ea typeface="Arial"/>
                <a:cs typeface="Arial"/>
              </a:defRPr>
            </a:lvl5pPr>
            <a:lvl6pPr>
              <a:defRPr sz="3150" b="0">
                <a:solidFill>
                  <a:srgbClr val="EEF4FA"/>
                </a:solidFill>
                <a:latin typeface="Arial"/>
                <a:ea typeface="Arial"/>
                <a:cs typeface="Arial"/>
              </a:defRPr>
            </a:lvl6pPr>
            <a:lvl7pPr>
              <a:defRPr sz="3150" b="0">
                <a:solidFill>
                  <a:srgbClr val="EEF4FA"/>
                </a:solidFill>
                <a:latin typeface="Arial"/>
                <a:ea typeface="Arial"/>
                <a:cs typeface="Arial"/>
              </a:defRPr>
            </a:lvl7pPr>
            <a:lvl8pPr>
              <a:defRPr sz="3150" b="0">
                <a:solidFill>
                  <a:srgbClr val="EEF4FA"/>
                </a:solidFill>
                <a:latin typeface="Arial"/>
                <a:ea typeface="Arial"/>
                <a:cs typeface="Arial"/>
              </a:defRPr>
            </a:lvl8pPr>
            <a:lvl9pPr>
              <a:defRPr sz="3150" b="0">
                <a:solidFill>
                  <a:srgbClr val="EEF4FA"/>
                </a:solidFill>
                <a:latin typeface="Arial"/>
                <a:ea typeface="Arial"/>
                <a:cs typeface="Arial"/>
              </a:defRPr>
            </a:lvl9pPr>
          </a:lstStyle>
          <a:p xmlns:a="http://schemas.openxmlformats.org/drawingml/2006/main">
            <a:pPr>
              <a:defRPr sz="3150" b="0">
                <a:solidFill>
                  <a:srgbClr val="EEF4FA"/>
                </a:solidFill>
                <a:latin typeface="Arial"/>
                <a:ea typeface="Arial"/>
                <a:cs typeface="Arial"/>
              </a:defRPr>
            </a:pPr>
            <a:r>
              <a:rPr sz="3150" b="0">
                <a:solidFill>
                  <a:srgbClr val="EEF4FA"/>
                </a:solidFill>
                <a:latin typeface="Arial"/>
                <a:ea typeface="Arial"/>
                <a:cs typeface="Arial"/>
              </a:rPr>
              <a:t>m x″ + c x′ + k x = 0</a:t>
            </a:r>
          </a:p>
        </p:txBody>
      </p:sp>
      <p:sp>
        <p:nvSpPr>
          <p:cNvPr id="6" name="">
            <a:extLst xmlns:a="http://schemas.openxmlformats.org/drawingml/2006/main">
              <a:ext uri="{FF2B5EF4-FFF2-40B4-BE49-F238E27FC236}">
                <a16:creationId xmlns:a16="http://schemas.microsoft.com/office/drawing/2014/main" id="{D842694E-37CF-4597-896A-CBE8F8E2AE59}"/>
              </a:ext>
            </a:extLst>
          </p:cNvPr>
          <p:cNvSpPr>
            <a:spLocks xmlns:a="http://schemas.openxmlformats.org/drawingml/2006/main" noGrp="1"/>
          </p:cNvSpPr>
          <p:nvPr/>
        </p:nvSpPr>
        <p:spPr>
          <a:xfrm xmlns:a="http://schemas.openxmlformats.org/drawingml/2006/main">
            <a:off x="609600" y="3124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EF4FA"/>
                </a:solidFill>
                <a:latin typeface="Arial"/>
                <a:ea typeface="Arial"/>
                <a:cs typeface="Arial"/>
              </a:defRPr>
            </a:defPPr>
            <a:lvl1pPr>
              <a:defRPr sz="2700" b="0">
                <a:solidFill>
                  <a:srgbClr val="EEF4FA"/>
                </a:solidFill>
                <a:latin typeface="Arial"/>
                <a:ea typeface="Arial"/>
                <a:cs typeface="Arial"/>
              </a:defRPr>
            </a:lvl1pPr>
            <a:lvl2pPr>
              <a:defRPr sz="2700" b="0">
                <a:solidFill>
                  <a:srgbClr val="EEF4FA"/>
                </a:solidFill>
                <a:latin typeface="Arial"/>
                <a:ea typeface="Arial"/>
                <a:cs typeface="Arial"/>
              </a:defRPr>
            </a:lvl2pPr>
            <a:lvl3pPr>
              <a:defRPr sz="2700" b="0">
                <a:solidFill>
                  <a:srgbClr val="EEF4FA"/>
                </a:solidFill>
                <a:latin typeface="Arial"/>
                <a:ea typeface="Arial"/>
                <a:cs typeface="Arial"/>
              </a:defRPr>
            </a:lvl3pPr>
            <a:lvl4pPr>
              <a:defRPr sz="2700" b="0">
                <a:solidFill>
                  <a:srgbClr val="EEF4FA"/>
                </a:solidFill>
                <a:latin typeface="Arial"/>
                <a:ea typeface="Arial"/>
                <a:cs typeface="Arial"/>
              </a:defRPr>
            </a:lvl4pPr>
            <a:lvl5pPr>
              <a:defRPr sz="2700" b="0">
                <a:solidFill>
                  <a:srgbClr val="EEF4FA"/>
                </a:solidFill>
                <a:latin typeface="Arial"/>
                <a:ea typeface="Arial"/>
                <a:cs typeface="Arial"/>
              </a:defRPr>
            </a:lvl5pPr>
            <a:lvl6pPr>
              <a:defRPr sz="2700" b="0">
                <a:solidFill>
                  <a:srgbClr val="EEF4FA"/>
                </a:solidFill>
                <a:latin typeface="Arial"/>
                <a:ea typeface="Arial"/>
                <a:cs typeface="Arial"/>
              </a:defRPr>
            </a:lvl6pPr>
            <a:lvl7pPr>
              <a:defRPr sz="2700" b="0">
                <a:solidFill>
                  <a:srgbClr val="EEF4FA"/>
                </a:solidFill>
                <a:latin typeface="Arial"/>
                <a:ea typeface="Arial"/>
                <a:cs typeface="Arial"/>
              </a:defRPr>
            </a:lvl7pPr>
            <a:lvl8pPr>
              <a:defRPr sz="2700" b="0">
                <a:solidFill>
                  <a:srgbClr val="EEF4FA"/>
                </a:solidFill>
                <a:latin typeface="Arial"/>
                <a:ea typeface="Arial"/>
                <a:cs typeface="Arial"/>
              </a:defRPr>
            </a:lvl8pPr>
            <a:lvl9pPr>
              <a:defRPr sz="2700" b="0">
                <a:solidFill>
                  <a:srgbClr val="EEF4FA"/>
                </a:solidFill>
                <a:latin typeface="Arial"/>
                <a:ea typeface="Arial"/>
                <a:cs typeface="Arial"/>
              </a:defRPr>
            </a:lvl9pPr>
          </a:lstStyle>
          <a:p xmlns:a="http://schemas.openxmlformats.org/drawingml/2006/main">
            <a:pPr>
              <a:defRPr sz="2700" b="0">
                <a:solidFill>
                  <a:srgbClr val="EEF4FA"/>
                </a:solidFill>
                <a:latin typeface="Arial"/>
                <a:ea typeface="Arial"/>
                <a:cs typeface="Arial"/>
              </a:defRPr>
            </a:pPr>
            <a:r>
              <a:rPr sz="2700" b="0">
                <a:solidFill>
                  <a:srgbClr val="EEF4FA"/>
                </a:solidFill>
                <a:latin typeface="Arial"/>
                <a:ea typeface="Arial"/>
                <a:cs typeface="Arial"/>
              </a:rPr>
              <a:t>x(t) = exp(−λt) [K₁ cos(ω t) + K₂ sin(ω t)]</a:t>
            </a:r>
          </a:p>
        </p:txBody>
      </p:sp>
      <p:sp>
        <p:nvSpPr>
          <p:cNvPr id="7" name="">
            <a:extLst xmlns:a="http://schemas.openxmlformats.org/drawingml/2006/main">
              <a:ext uri="{FF2B5EF4-FFF2-40B4-BE49-F238E27FC236}">
                <a16:creationId xmlns:a16="http://schemas.microsoft.com/office/drawing/2014/main" id="{081209A9-03C4-4F9A-AD4A-468C31265688}"/>
              </a:ext>
            </a:extLst>
          </p:cNvPr>
          <p:cNvSpPr>
            <a:spLocks xmlns:a="http://schemas.openxmlformats.org/drawingml/2006/main" noGrp="1"/>
          </p:cNvSpPr>
          <p:nvPr/>
        </p:nvSpPr>
        <p:spPr>
          <a:xfrm xmlns:a="http://schemas.openxmlformats.org/drawingml/2006/main">
            <a:off x="609600" y="4457700"/>
            <a:ext cx="504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PARAMÈTRES DU HUD</a:t>
            </a:r>
          </a:p>
        </p:txBody>
      </p:sp>
      <p:sp>
        <p:nvSpPr>
          <p:cNvPr id="8" name="">
            <a:extLst xmlns:a="http://schemas.openxmlformats.org/drawingml/2006/main">
              <a:ext uri="{FF2B5EF4-FFF2-40B4-BE49-F238E27FC236}">
                <a16:creationId xmlns:a16="http://schemas.microsoft.com/office/drawing/2014/main" id="{A900F17D-119C-4E18-AB0D-2A6403370AF8}"/>
              </a:ext>
            </a:extLst>
          </p:cNvPr>
          <p:cNvSpPr>
            <a:spLocks xmlns:a="http://schemas.openxmlformats.org/drawingml/2006/main" noGrp="1"/>
          </p:cNvSpPr>
          <p:nvPr/>
        </p:nvSpPr>
        <p:spPr>
          <a:xfrm xmlns:a="http://schemas.openxmlformats.org/drawingml/2006/main">
            <a:off x="609600" y="4914900"/>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EEF4FA"/>
                </a:solidFill>
                <a:latin typeface="Arial"/>
                <a:ea typeface="Arial"/>
                <a:cs typeface="Arial"/>
              </a:defRPr>
            </a:defPPr>
            <a:lvl1pPr>
              <a:defRPr sz="2250" b="0">
                <a:solidFill>
                  <a:srgbClr val="EEF4FA"/>
                </a:solidFill>
                <a:latin typeface="Arial"/>
                <a:ea typeface="Arial"/>
                <a:cs typeface="Arial"/>
              </a:defRPr>
            </a:lvl1pPr>
            <a:lvl2pPr>
              <a:defRPr sz="2250" b="0">
                <a:solidFill>
                  <a:srgbClr val="EEF4FA"/>
                </a:solidFill>
                <a:latin typeface="Arial"/>
                <a:ea typeface="Arial"/>
                <a:cs typeface="Arial"/>
              </a:defRPr>
            </a:lvl2pPr>
            <a:lvl3pPr>
              <a:defRPr sz="2250" b="0">
                <a:solidFill>
                  <a:srgbClr val="EEF4FA"/>
                </a:solidFill>
                <a:latin typeface="Arial"/>
                <a:ea typeface="Arial"/>
                <a:cs typeface="Arial"/>
              </a:defRPr>
            </a:lvl3pPr>
            <a:lvl4pPr>
              <a:defRPr sz="2250" b="0">
                <a:solidFill>
                  <a:srgbClr val="EEF4FA"/>
                </a:solidFill>
                <a:latin typeface="Arial"/>
                <a:ea typeface="Arial"/>
                <a:cs typeface="Arial"/>
              </a:defRPr>
            </a:lvl4pPr>
            <a:lvl5pPr>
              <a:defRPr sz="2250" b="0">
                <a:solidFill>
                  <a:srgbClr val="EEF4FA"/>
                </a:solidFill>
                <a:latin typeface="Arial"/>
                <a:ea typeface="Arial"/>
                <a:cs typeface="Arial"/>
              </a:defRPr>
            </a:lvl5pPr>
            <a:lvl6pPr>
              <a:defRPr sz="2250" b="0">
                <a:solidFill>
                  <a:srgbClr val="EEF4FA"/>
                </a:solidFill>
                <a:latin typeface="Arial"/>
                <a:ea typeface="Arial"/>
                <a:cs typeface="Arial"/>
              </a:defRPr>
            </a:lvl6pPr>
            <a:lvl7pPr>
              <a:defRPr sz="2250" b="0">
                <a:solidFill>
                  <a:srgbClr val="EEF4FA"/>
                </a:solidFill>
                <a:latin typeface="Arial"/>
                <a:ea typeface="Arial"/>
                <a:cs typeface="Arial"/>
              </a:defRPr>
            </a:lvl7pPr>
            <a:lvl8pPr>
              <a:defRPr sz="2250" b="0">
                <a:solidFill>
                  <a:srgbClr val="EEF4FA"/>
                </a:solidFill>
                <a:latin typeface="Arial"/>
                <a:ea typeface="Arial"/>
                <a:cs typeface="Arial"/>
              </a:defRPr>
            </a:lvl8pPr>
            <a:lvl9pPr>
              <a:defRPr sz="2250" b="0">
                <a:solidFill>
                  <a:srgbClr val="EEF4FA"/>
                </a:solidFill>
                <a:latin typeface="Arial"/>
                <a:ea typeface="Arial"/>
                <a:cs typeface="Arial"/>
              </a:defRPr>
            </a:lvl9pPr>
          </a:lstStyle>
          <a:p xmlns:a="http://schemas.openxmlformats.org/drawingml/2006/main">
            <a:pPr>
              <a:defRPr sz="2250" b="0">
                <a:solidFill>
                  <a:srgbClr val="EEF4FA"/>
                </a:solidFill>
                <a:latin typeface="Arial"/>
                <a:ea typeface="Arial"/>
                <a:cs typeface="Arial"/>
              </a:defRPr>
            </a:pPr>
            <a:r>
              <a:rPr sz="2250" b="0">
                <a:solidFill>
                  <a:srgbClr val="EEF4FA"/>
                </a:solidFill>
                <a:latin typeface="Arial"/>
                <a:ea typeface="Arial"/>
                <a:cs typeface="Arial"/>
              </a:rPr>
              <a:t>m = 1     k = 196     c = 9</a:t>
            </a:r>
          </a:p>
        </p:txBody>
      </p:sp>
      <p:sp>
        <p:nvSpPr>
          <p:cNvPr id="9" name="">
            <a:extLst xmlns:a="http://schemas.openxmlformats.org/drawingml/2006/main">
              <a:ext uri="{FF2B5EF4-FFF2-40B4-BE49-F238E27FC236}">
                <a16:creationId xmlns:a16="http://schemas.microsoft.com/office/drawing/2014/main" id="{B5F0EEA9-8274-4226-BBC3-9622A74F7A01}"/>
              </a:ext>
            </a:extLst>
          </p:cNvPr>
          <p:cNvSpPr>
            <a:spLocks xmlns:a="http://schemas.openxmlformats.org/drawingml/2006/main" noGrp="1"/>
          </p:cNvSpPr>
          <p:nvPr/>
        </p:nvSpPr>
        <p:spPr>
          <a:xfrm xmlns:a="http://schemas.openxmlformats.org/drawingml/2006/main">
            <a:off x="7334250" y="4591050"/>
            <a:ext cx="4191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EEF4FA"/>
                </a:solidFill>
                <a:latin typeface="Arial"/>
                <a:ea typeface="Arial"/>
                <a:cs typeface="Arial"/>
              </a:defRPr>
            </a:defPPr>
            <a:lvl1pPr>
              <a:defRPr sz="2100" b="0">
                <a:solidFill>
                  <a:srgbClr val="EEF4FA"/>
                </a:solidFill>
                <a:latin typeface="Arial"/>
                <a:ea typeface="Arial"/>
                <a:cs typeface="Arial"/>
              </a:defRPr>
            </a:lvl1pPr>
            <a:lvl2pPr>
              <a:defRPr sz="2100" b="0">
                <a:solidFill>
                  <a:srgbClr val="EEF4FA"/>
                </a:solidFill>
                <a:latin typeface="Arial"/>
                <a:ea typeface="Arial"/>
                <a:cs typeface="Arial"/>
              </a:defRPr>
            </a:lvl2pPr>
            <a:lvl3pPr>
              <a:defRPr sz="2100" b="0">
                <a:solidFill>
                  <a:srgbClr val="EEF4FA"/>
                </a:solidFill>
                <a:latin typeface="Arial"/>
                <a:ea typeface="Arial"/>
                <a:cs typeface="Arial"/>
              </a:defRPr>
            </a:lvl3pPr>
            <a:lvl4pPr>
              <a:defRPr sz="2100" b="0">
                <a:solidFill>
                  <a:srgbClr val="EEF4FA"/>
                </a:solidFill>
                <a:latin typeface="Arial"/>
                <a:ea typeface="Arial"/>
                <a:cs typeface="Arial"/>
              </a:defRPr>
            </a:lvl4pPr>
            <a:lvl5pPr>
              <a:defRPr sz="2100" b="0">
                <a:solidFill>
                  <a:srgbClr val="EEF4FA"/>
                </a:solidFill>
                <a:latin typeface="Arial"/>
                <a:ea typeface="Arial"/>
                <a:cs typeface="Arial"/>
              </a:defRPr>
            </a:lvl5pPr>
            <a:lvl6pPr>
              <a:defRPr sz="2100" b="0">
                <a:solidFill>
                  <a:srgbClr val="EEF4FA"/>
                </a:solidFill>
                <a:latin typeface="Arial"/>
                <a:ea typeface="Arial"/>
                <a:cs typeface="Arial"/>
              </a:defRPr>
            </a:lvl6pPr>
            <a:lvl7pPr>
              <a:defRPr sz="2100" b="0">
                <a:solidFill>
                  <a:srgbClr val="EEF4FA"/>
                </a:solidFill>
                <a:latin typeface="Arial"/>
                <a:ea typeface="Arial"/>
                <a:cs typeface="Arial"/>
              </a:defRPr>
            </a:lvl7pPr>
            <a:lvl8pPr>
              <a:defRPr sz="2100" b="0">
                <a:solidFill>
                  <a:srgbClr val="EEF4FA"/>
                </a:solidFill>
                <a:latin typeface="Arial"/>
                <a:ea typeface="Arial"/>
                <a:cs typeface="Arial"/>
              </a:defRPr>
            </a:lvl8pPr>
            <a:lvl9pPr>
              <a:defRPr sz="2100" b="0">
                <a:solidFill>
                  <a:srgbClr val="EEF4FA"/>
                </a:solidFill>
                <a:latin typeface="Arial"/>
                <a:ea typeface="Arial"/>
                <a:cs typeface="Arial"/>
              </a:defRPr>
            </a:lvl9pPr>
          </a:lstStyle>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La valeur traverse sa position</a:t>
            </a:r>
          </a:p>
          <a:p xmlns:a="http://schemas.openxmlformats.org/drawingml/2006/main">
            <a:pPr>
              <a:defRPr sz="2100" b="0">
                <a:solidFill>
                  <a:srgbClr val="EEF4FA"/>
                </a:solidFill>
                <a:latin typeface="Arial"/>
                <a:ea typeface="Arial"/>
                <a:cs typeface="Arial"/>
              </a:defRPr>
            </a:pPr>
            <a:r>
              <a:rPr sz="2100" b="0">
                <a:solidFill>
                  <a:srgbClr val="EEF4FA"/>
                </a:solidFill>
                <a:latin typeface="Arial"/>
                <a:ea typeface="Arial"/>
                <a:cs typeface="Arial"/>
              </a:rPr>
              <a:t>d’équilibre puis se stabilise.</a:t>
            </a:r>
          </a:p>
        </p:txBody>
      </p:sp>
      <p:sp>
        <p:nvSpPr>
          <p:cNvPr id="10" name="">
            <a:extLst xmlns:a="http://schemas.openxmlformats.org/drawingml/2006/main">
              <a:ext uri="{FF2B5EF4-FFF2-40B4-BE49-F238E27FC236}">
                <a16:creationId xmlns:a16="http://schemas.microsoft.com/office/drawing/2014/main" id="{4CB153F6-F980-4DD8-A1EB-6AEA8135A908}"/>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λ = c/(2m) ; ω = √(k/m − λ²).</a:t>
            </a:r>
          </a:p>
        </p:txBody>
      </p:sp>
    </p:spTree>
    <p:extLst>
      <p:ext uri="{BB962C8B-B14F-4D97-AF65-F5344CB8AC3E}">
        <p14:creationId xmlns:p14="http://schemas.microsoft.com/office/powerpoint/2010/main" val="1777342357"/>
      </p:ext>
    </p:extLst>
  </p:cSld>
</p:sld>
</file>

<file path=ppt/slides/slide12.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FF7A57B-FBCE-4260-B432-2608986F1815}"/>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Démonstration en direct</a:t>
            </a:r>
          </a:p>
        </p:txBody>
      </p:sp>
      <p:sp>
        <p:nvSpPr>
          <p:cNvPr id="3" name="">
            <a:extLst xmlns:a="http://schemas.openxmlformats.org/drawingml/2006/main">
              <a:ext uri="{FF2B5EF4-FFF2-40B4-BE49-F238E27FC236}">
                <a16:creationId xmlns:a16="http://schemas.microsoft.com/office/drawing/2014/main" id="{6F70F5E4-D2B5-421A-B72D-B9B4DA8026D5}"/>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Un parcours court pour montrer chaque fonctionnalité</a:t>
            </a:r>
          </a:p>
        </p:txBody>
      </p:sp>
      <p:sp>
        <p:nvSpPr>
          <p:cNvPr id="4" name="">
            <a:extLst xmlns:a="http://schemas.openxmlformats.org/drawingml/2006/main">
              <a:ext uri="{FF2B5EF4-FFF2-40B4-BE49-F238E27FC236}">
                <a16:creationId xmlns:a16="http://schemas.microsoft.com/office/drawing/2014/main" id="{A4FFC320-C473-463C-97FE-7F26B0F6EEA7}"/>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DBBC6ABF-4738-4ED1-81AD-790437BAAD89}"/>
              </a:ext>
            </a:extLst>
          </p:cNvPr>
          <p:cNvGraphicFramePr/>
          <p:nvPr/>
        </p:nvGraphicFramePr>
        <p:xfrm>
          <a:off xmlns:a="http://schemas.openxmlformats.org/drawingml/2006/main" x="609600" y="2095500"/>
          <a:ext xmlns:a="http://schemas.openxmlformats.org/drawingml/2006/main" cx="10972800" cy="3286125"/>
        </p:xfrm>
        <a:graphic xmlns:a="http://schemas.openxmlformats.org/drawingml/2006/main">
          <a:graphicData uri="http://schemas.openxmlformats.org/drawingml/2006/table">
            <a:tbl>
              <a:tblPr/>
              <a:tblGrid>
                <a:gridCol w="1428750"/>
                <a:gridCol w="3714750"/>
                <a:gridCol w="5829300"/>
              </a:tblGrid>
              <a:tr h="657225">
                <a:tc>
                  <a:txBody>
                    <a:bodyPr/>
                    <a:lstStyle/>
                    <a:p>
                      <a:r>
                        <a:rPr sz="1875" b="1">
                          <a:solidFill>
                            <a:srgbClr val="6ADDB2"/>
                          </a:solidFill>
                          <a:latin typeface="Arial"/>
                          <a:ea typeface="Arial"/>
                          <a:cs typeface="Arial"/>
                        </a:rPr>
                        <a:t>Durée</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Actions</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75" b="1">
                          <a:solidFill>
                            <a:srgbClr val="6ADDB2"/>
                          </a:solidFill>
                          <a:latin typeface="Arial"/>
                          <a:ea typeface="Arial"/>
                          <a:cs typeface="Arial"/>
                        </a:rPr>
                        <a:t>Principe montré</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657225">
                <a:tc>
                  <a:txBody>
                    <a:bodyPr/>
                    <a:lstStyle/>
                    <a:p>
                      <a:r>
                        <a:rPr sz="1875" b="0">
                          <a:solidFill>
                            <a:srgbClr val="EEF4FA"/>
                          </a:solidFill>
                          <a:latin typeface="Arial"/>
                          <a:ea typeface="Arial"/>
                          <a:cs typeface="Arial"/>
                        </a:rPr>
                        <a:t>40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1, flèches, S, Tab, F</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Blob, contacts, séparation, fusion et HUD</a:t>
                      </a:r>
                    </a:p>
                  </a:txBody>
                  <a:tcPr marL="91440" marR="91440" marT="45720" marB="45720">
                    <a:lnR w="9525">
                      <a:solidFill>
                        <a:srgbClr val="334459"/>
                      </a:solidFill>
                      <a:prstDash val="solid"/>
                    </a:lnR>
                    <a:lnB w="9525">
                      <a:solidFill>
                        <a:srgbClr val="334459"/>
                      </a:solidFill>
                      <a:prstDash val="solid"/>
                    </a:lnB>
                    <a:solidFill>
                      <a:srgbClr val="131B2B"/>
                    </a:solidFill>
                  </a:tcPr>
                </a:tc>
              </a:tr>
              <a:tr h="657225">
                <a:tc>
                  <a:txBody>
                    <a:bodyPr/>
                    <a:lstStyle/>
                    <a:p>
                      <a:r>
                        <a:rPr sz="1875" b="0">
                          <a:solidFill>
                            <a:srgbClr val="EEF4FA"/>
                          </a:solidFill>
                          <a:latin typeface="Arial"/>
                          <a:ea typeface="Arial"/>
                          <a:cs typeface="Arial"/>
                        </a:rPr>
                        <a:t>25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2 à 5, puis R si nécessaire</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Variantes de ressorts</a:t>
                      </a:r>
                    </a:p>
                  </a:txBody>
                  <a:tcPr marL="91440" marR="91440" marT="45720" marB="45720">
                    <a:lnR w="9525">
                      <a:solidFill>
                        <a:srgbClr val="334459"/>
                      </a:solidFill>
                      <a:prstDash val="solid"/>
                    </a:lnR>
                    <a:lnB w="9525">
                      <a:solidFill>
                        <a:srgbClr val="334459"/>
                      </a:solidFill>
                      <a:prstDash val="solid"/>
                    </a:lnB>
                    <a:solidFill>
                      <a:srgbClr val="131B2B"/>
                    </a:solidFill>
                  </a:tcPr>
                </a:tc>
              </a:tr>
              <a:tr h="657225">
                <a:tc>
                  <a:txBody>
                    <a:bodyPr/>
                    <a:lstStyle/>
                    <a:p>
                      <a:r>
                        <a:rPr sz="1875" b="0">
                          <a:solidFill>
                            <a:srgbClr val="EEF4FA"/>
                          </a:solidFill>
                          <a:latin typeface="Arial"/>
                          <a:ea typeface="Arial"/>
                          <a:cs typeface="Arial"/>
                        </a:rPr>
                        <a:t>15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6 puis 7</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Tige et câble</a:t>
                      </a:r>
                    </a:p>
                  </a:txBody>
                  <a:tcPr marL="91440" marR="91440" marT="45720" marB="45720">
                    <a:lnR w="9525">
                      <a:solidFill>
                        <a:srgbClr val="334459"/>
                      </a:solidFill>
                      <a:prstDash val="solid"/>
                    </a:lnR>
                    <a:lnB w="9525">
                      <a:solidFill>
                        <a:srgbClr val="334459"/>
                      </a:solidFill>
                      <a:prstDash val="solid"/>
                    </a:lnB>
                    <a:solidFill>
                      <a:srgbClr val="131B2B"/>
                    </a:solidFill>
                  </a:tcPr>
                </a:tc>
              </a:tr>
              <a:tr h="657225">
                <a:tc>
                  <a:txBody>
                    <a:bodyPr/>
                    <a:lstStyle/>
                    <a:p>
                      <a:r>
                        <a:rPr sz="1875" b="0">
                          <a:solidFill>
                            <a:srgbClr val="EEF4FA"/>
                          </a:solidFill>
                          <a:latin typeface="Arial"/>
                          <a:ea typeface="Arial"/>
                          <a:cs typeface="Arial"/>
                        </a:rPr>
                        <a:t>20 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8, A/D, puis flèches</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75" b="0">
                          <a:solidFill>
                            <a:srgbClr val="EEF4FA"/>
                          </a:solidFill>
                          <a:latin typeface="Arial"/>
                          <a:ea typeface="Arial"/>
                          <a:cs typeface="Arial"/>
                        </a:rPr>
                        <a:t>Friction statique et cinétique</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6" name="">
            <a:extLst xmlns:a="http://schemas.openxmlformats.org/drawingml/2006/main">
              <a:ext uri="{FF2B5EF4-FFF2-40B4-BE49-F238E27FC236}">
                <a16:creationId xmlns:a16="http://schemas.microsoft.com/office/drawing/2014/main" id="{65212881-834E-43C5-B0E8-56E97579FEAE}"/>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P : pause. R : recommencer la scène.</a:t>
            </a:r>
          </a:p>
        </p:txBody>
      </p:sp>
    </p:spTree>
    <p:extLst>
      <p:ext uri="{BB962C8B-B14F-4D97-AF65-F5344CB8AC3E}">
        <p14:creationId xmlns:p14="http://schemas.microsoft.com/office/powerpoint/2010/main" val="810251505"/>
      </p:ext>
    </p:extLst>
  </p:cSld>
</p:sld>
</file>

<file path=ppt/slides/slide13.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E5B5C6B-B070-463C-AA7C-6B6BB06B60B5}"/>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Tests, défis et limites</a:t>
            </a:r>
          </a:p>
        </p:txBody>
      </p:sp>
      <p:sp>
        <p:nvSpPr>
          <p:cNvPr id="3" name="">
            <a:extLst xmlns:a="http://schemas.openxmlformats.org/drawingml/2006/main">
              <a:ext uri="{FF2B5EF4-FFF2-40B4-BE49-F238E27FC236}">
                <a16:creationId xmlns:a16="http://schemas.microsoft.com/office/drawing/2014/main" id="{B9DF8F85-3B97-4563-8429-5756E1F88D0A}"/>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La stabilité repose sur des choix numériques explicites</a:t>
            </a:r>
          </a:p>
        </p:txBody>
      </p:sp>
      <p:sp>
        <p:nvSpPr>
          <p:cNvPr id="4" name="">
            <a:extLst xmlns:a="http://schemas.openxmlformats.org/drawingml/2006/main">
              <a:ext uri="{FF2B5EF4-FFF2-40B4-BE49-F238E27FC236}">
                <a16:creationId xmlns:a16="http://schemas.microsoft.com/office/drawing/2014/main" id="{791B8832-DF3F-40BA-951B-2B11728C5D6D}"/>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D474978F-3668-4197-9F10-8D2F35268FE7}"/>
              </a:ext>
            </a:extLst>
          </p:cNvPr>
          <p:cNvSpPr>
            <a:spLocks xmlns:a="http://schemas.openxmlformats.org/drawingml/2006/main" noGrp="1"/>
          </p:cNvSpPr>
          <p:nvPr/>
        </p:nvSpPr>
        <p:spPr>
          <a:xfrm xmlns:a="http://schemas.openxmlformats.org/drawingml/2006/main">
            <a:off x="609600" y="21336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1">
                <a:solidFill>
                  <a:srgbClr val="6ADDB2"/>
                </a:solidFill>
                <a:latin typeface="Arial"/>
                <a:ea typeface="Arial"/>
                <a:cs typeface="Arial"/>
              </a:defRPr>
            </a:defPPr>
            <a:lvl1pPr>
              <a:defRPr sz="3900" b="1">
                <a:solidFill>
                  <a:srgbClr val="6ADDB2"/>
                </a:solidFill>
                <a:latin typeface="Arial"/>
                <a:ea typeface="Arial"/>
                <a:cs typeface="Arial"/>
              </a:defRPr>
            </a:lvl1pPr>
            <a:lvl2pPr>
              <a:defRPr sz="3900" b="1">
                <a:solidFill>
                  <a:srgbClr val="6ADDB2"/>
                </a:solidFill>
                <a:latin typeface="Arial"/>
                <a:ea typeface="Arial"/>
                <a:cs typeface="Arial"/>
              </a:defRPr>
            </a:lvl2pPr>
            <a:lvl3pPr>
              <a:defRPr sz="3900" b="1">
                <a:solidFill>
                  <a:srgbClr val="6ADDB2"/>
                </a:solidFill>
                <a:latin typeface="Arial"/>
                <a:ea typeface="Arial"/>
                <a:cs typeface="Arial"/>
              </a:defRPr>
            </a:lvl3pPr>
            <a:lvl4pPr>
              <a:defRPr sz="3900" b="1">
                <a:solidFill>
                  <a:srgbClr val="6ADDB2"/>
                </a:solidFill>
                <a:latin typeface="Arial"/>
                <a:ea typeface="Arial"/>
                <a:cs typeface="Arial"/>
              </a:defRPr>
            </a:lvl4pPr>
            <a:lvl5pPr>
              <a:defRPr sz="3900" b="1">
                <a:solidFill>
                  <a:srgbClr val="6ADDB2"/>
                </a:solidFill>
                <a:latin typeface="Arial"/>
                <a:ea typeface="Arial"/>
                <a:cs typeface="Arial"/>
              </a:defRPr>
            </a:lvl5pPr>
            <a:lvl6pPr>
              <a:defRPr sz="3900" b="1">
                <a:solidFill>
                  <a:srgbClr val="6ADDB2"/>
                </a:solidFill>
                <a:latin typeface="Arial"/>
                <a:ea typeface="Arial"/>
                <a:cs typeface="Arial"/>
              </a:defRPr>
            </a:lvl6pPr>
            <a:lvl7pPr>
              <a:defRPr sz="3900" b="1">
                <a:solidFill>
                  <a:srgbClr val="6ADDB2"/>
                </a:solidFill>
                <a:latin typeface="Arial"/>
                <a:ea typeface="Arial"/>
                <a:cs typeface="Arial"/>
              </a:defRPr>
            </a:lvl7pPr>
            <a:lvl8pPr>
              <a:defRPr sz="3900" b="1">
                <a:solidFill>
                  <a:srgbClr val="6ADDB2"/>
                </a:solidFill>
                <a:latin typeface="Arial"/>
                <a:ea typeface="Arial"/>
                <a:cs typeface="Arial"/>
              </a:defRPr>
            </a:lvl8pPr>
            <a:lvl9pPr>
              <a:defRPr sz="3900" b="1">
                <a:solidFill>
                  <a:srgbClr val="6ADDB2"/>
                </a:solidFill>
                <a:latin typeface="Arial"/>
                <a:ea typeface="Arial"/>
                <a:cs typeface="Arial"/>
              </a:defRPr>
            </a:lvl9pPr>
          </a:lstStyle>
          <a:p xmlns:a="http://schemas.openxmlformats.org/drawingml/2006/main">
            <a:pPr>
              <a:defRPr sz="3900" b="1">
                <a:solidFill>
                  <a:srgbClr val="6ADDB2"/>
                </a:solidFill>
                <a:latin typeface="Arial"/>
                <a:ea typeface="Arial"/>
                <a:cs typeface="Arial"/>
              </a:defRPr>
            </a:pPr>
            <a:r>
              <a:rPr sz="3900" b="1">
                <a:solidFill>
                  <a:srgbClr val="6ADDB2"/>
                </a:solidFill>
                <a:latin typeface="Arial"/>
                <a:ea typeface="Arial"/>
                <a:cs typeface="Arial"/>
              </a:rPr>
              <a:t>136 tests réussis</a:t>
            </a:r>
          </a:p>
        </p:txBody>
      </p:sp>
      <p:sp>
        <p:nvSpPr>
          <p:cNvPr id="6" name="">
            <a:extLst xmlns:a="http://schemas.openxmlformats.org/drawingml/2006/main">
              <a:ext uri="{FF2B5EF4-FFF2-40B4-BE49-F238E27FC236}">
                <a16:creationId xmlns:a16="http://schemas.microsoft.com/office/drawing/2014/main" id="{8A3E8FC7-D6E6-47CF-BCCF-F27EEC4109F7}"/>
              </a:ext>
            </a:extLst>
          </p:cNvPr>
          <p:cNvSpPr>
            <a:spLocks xmlns:a="http://schemas.openxmlformats.org/drawingml/2006/main" noGrp="1"/>
          </p:cNvSpPr>
          <p:nvPr/>
        </p:nvSpPr>
        <p:spPr>
          <a:xfrm xmlns:a="http://schemas.openxmlformats.org/drawingml/2006/main">
            <a:off x="609600" y="33051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VÉRIFICATIONS</a:t>
            </a:r>
          </a:p>
        </p:txBody>
      </p:sp>
      <p:sp>
        <p:nvSpPr>
          <p:cNvPr id="7" name="">
            <a:extLst xmlns:a="http://schemas.openxmlformats.org/drawingml/2006/main">
              <a:ext uri="{FF2B5EF4-FFF2-40B4-BE49-F238E27FC236}">
                <a16:creationId xmlns:a16="http://schemas.microsoft.com/office/drawing/2014/main" id="{DE6D8C52-F0D6-45CD-AECB-BB80B6B6B022}"/>
              </a:ext>
            </a:extLst>
          </p:cNvPr>
          <p:cNvSpPr>
            <a:spLocks xmlns:a="http://schemas.openxmlformats.org/drawingml/2006/main" noGrp="1"/>
          </p:cNvSpPr>
          <p:nvPr/>
        </p:nvSpPr>
        <p:spPr>
          <a:xfrm xmlns:a="http://schemas.openxmlformats.org/drawingml/2006/main">
            <a:off x="609600" y="3819525"/>
            <a:ext cx="3333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Blob pendant 20 s</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Limites des câbles</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Séparation et fusion</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60 et 144 images/s</a:t>
            </a:r>
          </a:p>
        </p:txBody>
      </p:sp>
      <p:sp>
        <p:nvSpPr>
          <p:cNvPr id="8" name="">
            <a:extLst xmlns:a="http://schemas.openxmlformats.org/drawingml/2006/main">
              <a:ext uri="{FF2B5EF4-FFF2-40B4-BE49-F238E27FC236}">
                <a16:creationId xmlns:a16="http://schemas.microsoft.com/office/drawing/2014/main" id="{FB4C6B95-96F6-488F-B74C-5A3E084DE5EE}"/>
              </a:ext>
            </a:extLst>
          </p:cNvPr>
          <p:cNvSpPr>
            <a:spLocks xmlns:a="http://schemas.openxmlformats.org/drawingml/2006/main" noGrp="1"/>
          </p:cNvSpPr>
          <p:nvPr/>
        </p:nvSpPr>
        <p:spPr>
          <a:xfrm xmlns:a="http://schemas.openxmlformats.org/drawingml/2006/main">
            <a:off x="4286250" y="33051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DÉFIS RÉSOLUS</a:t>
            </a:r>
          </a:p>
        </p:txBody>
      </p:sp>
      <p:sp>
        <p:nvSpPr>
          <p:cNvPr id="9" name="">
            <a:extLst xmlns:a="http://schemas.openxmlformats.org/drawingml/2006/main">
              <a:ext uri="{FF2B5EF4-FFF2-40B4-BE49-F238E27FC236}">
                <a16:creationId xmlns:a16="http://schemas.microsoft.com/office/drawing/2014/main" id="{54AAF144-7DF3-4112-ABA8-7F7FA9A2BE5B}"/>
              </a:ext>
            </a:extLst>
          </p:cNvPr>
          <p:cNvSpPr>
            <a:spLocks xmlns:a="http://schemas.openxmlformats.org/drawingml/2006/main" noGrp="1"/>
          </p:cNvSpPr>
          <p:nvPr/>
        </p:nvSpPr>
        <p:spPr>
          <a:xfrm xmlns:a="http://schemas.openxmlformats.org/drawingml/2006/main">
            <a:off x="4286250" y="3819525"/>
            <a:ext cx="33337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EEF4FA"/>
                </a:solidFill>
                <a:latin typeface="Arial"/>
                <a:ea typeface="Arial"/>
                <a:cs typeface="Arial"/>
              </a:defRPr>
            </a:defPPr>
            <a:lvl1pPr>
              <a:defRPr sz="1950" b="0">
                <a:solidFill>
                  <a:srgbClr val="EEF4FA"/>
                </a:solidFill>
                <a:latin typeface="Arial"/>
                <a:ea typeface="Arial"/>
                <a:cs typeface="Arial"/>
              </a:defRPr>
            </a:lvl1pPr>
            <a:lvl2pPr>
              <a:defRPr sz="1950" b="0">
                <a:solidFill>
                  <a:srgbClr val="EEF4FA"/>
                </a:solidFill>
                <a:latin typeface="Arial"/>
                <a:ea typeface="Arial"/>
                <a:cs typeface="Arial"/>
              </a:defRPr>
            </a:lvl2pPr>
            <a:lvl3pPr>
              <a:defRPr sz="1950" b="0">
                <a:solidFill>
                  <a:srgbClr val="EEF4FA"/>
                </a:solidFill>
                <a:latin typeface="Arial"/>
                <a:ea typeface="Arial"/>
                <a:cs typeface="Arial"/>
              </a:defRPr>
            </a:lvl3pPr>
            <a:lvl4pPr>
              <a:defRPr sz="1950" b="0">
                <a:solidFill>
                  <a:srgbClr val="EEF4FA"/>
                </a:solidFill>
                <a:latin typeface="Arial"/>
                <a:ea typeface="Arial"/>
                <a:cs typeface="Arial"/>
              </a:defRPr>
            </a:lvl4pPr>
            <a:lvl5pPr>
              <a:defRPr sz="1950" b="0">
                <a:solidFill>
                  <a:srgbClr val="EEF4FA"/>
                </a:solidFill>
                <a:latin typeface="Arial"/>
                <a:ea typeface="Arial"/>
                <a:cs typeface="Arial"/>
              </a:defRPr>
            </a:lvl5pPr>
            <a:lvl6pPr>
              <a:defRPr sz="1950" b="0">
                <a:solidFill>
                  <a:srgbClr val="EEF4FA"/>
                </a:solidFill>
                <a:latin typeface="Arial"/>
                <a:ea typeface="Arial"/>
                <a:cs typeface="Arial"/>
              </a:defRPr>
            </a:lvl6pPr>
            <a:lvl7pPr>
              <a:defRPr sz="1950" b="0">
                <a:solidFill>
                  <a:srgbClr val="EEF4FA"/>
                </a:solidFill>
                <a:latin typeface="Arial"/>
                <a:ea typeface="Arial"/>
                <a:cs typeface="Arial"/>
              </a:defRPr>
            </a:lvl7pPr>
            <a:lvl8pPr>
              <a:defRPr sz="1950" b="0">
                <a:solidFill>
                  <a:srgbClr val="EEF4FA"/>
                </a:solidFill>
                <a:latin typeface="Arial"/>
                <a:ea typeface="Arial"/>
                <a:cs typeface="Arial"/>
              </a:defRPr>
            </a:lvl8pPr>
            <a:lvl9pPr>
              <a:defRPr sz="1950" b="0">
                <a:solidFill>
                  <a:srgbClr val="EEF4FA"/>
                </a:solidFill>
                <a:latin typeface="Arial"/>
                <a:ea typeface="Arial"/>
                <a:cs typeface="Arial"/>
              </a:defRPr>
            </a:lvl9pPr>
          </a:lstStyle>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Ressorts : sous-pas fixes</a:t>
            </a:r>
          </a:p>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Repos : accélération totale</a:t>
            </a:r>
          </a:p>
          <a:p xmlns:a="http://schemas.openxmlformats.org/drawingml/2006/main">
            <a:pPr>
              <a:defRPr sz="1950" b="0">
                <a:solidFill>
                  <a:srgbClr val="EEF4FA"/>
                </a:solidFill>
                <a:latin typeface="Arial"/>
                <a:ea typeface="Arial"/>
                <a:cs typeface="Arial"/>
              </a:defRPr>
            </a:pPr>
            <a:r>
              <a:rPr sz="1950" b="0">
                <a:solidFill>
                  <a:srgbClr val="EEF4FA"/>
                </a:solidFill>
                <a:latin typeface="Arial"/>
                <a:ea typeface="Arial"/>
                <a:cs typeface="Arial"/>
              </a:rPr>
              <a:t>Friction : arrêt sans inversion</a:t>
            </a:r>
          </a:p>
        </p:txBody>
      </p:sp>
      <p:sp>
        <p:nvSpPr>
          <p:cNvPr id="10" name="">
            <a:extLst xmlns:a="http://schemas.openxmlformats.org/drawingml/2006/main">
              <a:ext uri="{FF2B5EF4-FFF2-40B4-BE49-F238E27FC236}">
                <a16:creationId xmlns:a16="http://schemas.microsoft.com/office/drawing/2014/main" id="{72BEE62C-4C98-4059-A06A-06C93C9E8827}"/>
              </a:ext>
            </a:extLst>
          </p:cNvPr>
          <p:cNvSpPr>
            <a:spLocks xmlns:a="http://schemas.openxmlformats.org/drawingml/2006/main" noGrp="1"/>
          </p:cNvSpPr>
          <p:nvPr/>
        </p:nvSpPr>
        <p:spPr>
          <a:xfrm xmlns:a="http://schemas.openxmlformats.org/drawingml/2006/main">
            <a:off x="8134350" y="3305175"/>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6ADDB2"/>
                </a:solidFill>
                <a:latin typeface="Arial"/>
                <a:ea typeface="Arial"/>
                <a:cs typeface="Arial"/>
              </a:defRPr>
            </a:defPPr>
            <a:lvl1pPr>
              <a:defRPr sz="1725" b="1">
                <a:solidFill>
                  <a:srgbClr val="6ADDB2"/>
                </a:solidFill>
                <a:latin typeface="Arial"/>
                <a:ea typeface="Arial"/>
                <a:cs typeface="Arial"/>
              </a:defRPr>
            </a:lvl1pPr>
            <a:lvl2pPr>
              <a:defRPr sz="1725" b="1">
                <a:solidFill>
                  <a:srgbClr val="6ADDB2"/>
                </a:solidFill>
                <a:latin typeface="Arial"/>
                <a:ea typeface="Arial"/>
                <a:cs typeface="Arial"/>
              </a:defRPr>
            </a:lvl2pPr>
            <a:lvl3pPr>
              <a:defRPr sz="1725" b="1">
                <a:solidFill>
                  <a:srgbClr val="6ADDB2"/>
                </a:solidFill>
                <a:latin typeface="Arial"/>
                <a:ea typeface="Arial"/>
                <a:cs typeface="Arial"/>
              </a:defRPr>
            </a:lvl3pPr>
            <a:lvl4pPr>
              <a:defRPr sz="1725" b="1">
                <a:solidFill>
                  <a:srgbClr val="6ADDB2"/>
                </a:solidFill>
                <a:latin typeface="Arial"/>
                <a:ea typeface="Arial"/>
                <a:cs typeface="Arial"/>
              </a:defRPr>
            </a:lvl4pPr>
            <a:lvl5pPr>
              <a:defRPr sz="1725" b="1">
                <a:solidFill>
                  <a:srgbClr val="6ADDB2"/>
                </a:solidFill>
                <a:latin typeface="Arial"/>
                <a:ea typeface="Arial"/>
                <a:cs typeface="Arial"/>
              </a:defRPr>
            </a:lvl5pPr>
            <a:lvl6pPr>
              <a:defRPr sz="1725" b="1">
                <a:solidFill>
                  <a:srgbClr val="6ADDB2"/>
                </a:solidFill>
                <a:latin typeface="Arial"/>
                <a:ea typeface="Arial"/>
                <a:cs typeface="Arial"/>
              </a:defRPr>
            </a:lvl6pPr>
            <a:lvl7pPr>
              <a:defRPr sz="1725" b="1">
                <a:solidFill>
                  <a:srgbClr val="6ADDB2"/>
                </a:solidFill>
                <a:latin typeface="Arial"/>
                <a:ea typeface="Arial"/>
                <a:cs typeface="Arial"/>
              </a:defRPr>
            </a:lvl7pPr>
            <a:lvl8pPr>
              <a:defRPr sz="1725" b="1">
                <a:solidFill>
                  <a:srgbClr val="6ADDB2"/>
                </a:solidFill>
                <a:latin typeface="Arial"/>
                <a:ea typeface="Arial"/>
                <a:cs typeface="Arial"/>
              </a:defRPr>
            </a:lvl8pPr>
            <a:lvl9pPr>
              <a:defRPr sz="1725" b="1">
                <a:solidFill>
                  <a:srgbClr val="6ADDB2"/>
                </a:solidFill>
                <a:latin typeface="Arial"/>
                <a:ea typeface="Arial"/>
                <a:cs typeface="Arial"/>
              </a:defRPr>
            </a:lvl9pPr>
          </a:lstStyle>
          <a:p xmlns:a="http://schemas.openxmlformats.org/drawingml/2006/main">
            <a:pPr>
              <a:defRPr sz="1725" b="1">
                <a:solidFill>
                  <a:srgbClr val="6ADDB2"/>
                </a:solidFill>
                <a:latin typeface="Arial"/>
                <a:ea typeface="Arial"/>
                <a:cs typeface="Arial"/>
              </a:defRPr>
            </a:pPr>
            <a:r>
              <a:rPr sz="1725" b="1">
                <a:solidFill>
                  <a:srgbClr val="6ADDB2"/>
                </a:solidFill>
                <a:latin typeface="Arial"/>
                <a:ea typeface="Arial"/>
                <a:cs typeface="Arial"/>
              </a:rPr>
              <a:t>LIMITES</a:t>
            </a:r>
          </a:p>
        </p:txBody>
      </p:sp>
      <p:sp>
        <p:nvSpPr>
          <p:cNvPr id="11" name="">
            <a:extLst xmlns:a="http://schemas.openxmlformats.org/drawingml/2006/main">
              <a:ext uri="{FF2B5EF4-FFF2-40B4-BE49-F238E27FC236}">
                <a16:creationId xmlns:a16="http://schemas.microsoft.com/office/drawing/2014/main" id="{03DD95DF-AE15-40CD-94F5-B719E8D9CEDA}"/>
              </a:ext>
            </a:extLst>
          </p:cNvPr>
          <p:cNvSpPr>
            <a:spLocks xmlns:a="http://schemas.openxmlformats.org/drawingml/2006/main" noGrp="1"/>
          </p:cNvSpPr>
          <p:nvPr/>
        </p:nvSpPr>
        <p:spPr>
          <a:xfrm xmlns:a="http://schemas.openxmlformats.org/drawingml/2006/main">
            <a:off x="8134350" y="3819525"/>
            <a:ext cx="3429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EEF4FA"/>
                </a:solidFill>
                <a:latin typeface="Arial"/>
                <a:ea typeface="Arial"/>
                <a:cs typeface="Arial"/>
              </a:defRPr>
            </a:defPPr>
            <a:lvl1pPr>
              <a:defRPr sz="2025" b="0">
                <a:solidFill>
                  <a:srgbClr val="EEF4FA"/>
                </a:solidFill>
                <a:latin typeface="Arial"/>
                <a:ea typeface="Arial"/>
                <a:cs typeface="Arial"/>
              </a:defRPr>
            </a:lvl1pPr>
            <a:lvl2pPr>
              <a:defRPr sz="2025" b="0">
                <a:solidFill>
                  <a:srgbClr val="EEF4FA"/>
                </a:solidFill>
                <a:latin typeface="Arial"/>
                <a:ea typeface="Arial"/>
                <a:cs typeface="Arial"/>
              </a:defRPr>
            </a:lvl2pPr>
            <a:lvl3pPr>
              <a:defRPr sz="2025" b="0">
                <a:solidFill>
                  <a:srgbClr val="EEF4FA"/>
                </a:solidFill>
                <a:latin typeface="Arial"/>
                <a:ea typeface="Arial"/>
                <a:cs typeface="Arial"/>
              </a:defRPr>
            </a:lvl3pPr>
            <a:lvl4pPr>
              <a:defRPr sz="2025" b="0">
                <a:solidFill>
                  <a:srgbClr val="EEF4FA"/>
                </a:solidFill>
                <a:latin typeface="Arial"/>
                <a:ea typeface="Arial"/>
                <a:cs typeface="Arial"/>
              </a:defRPr>
            </a:lvl4pPr>
            <a:lvl5pPr>
              <a:defRPr sz="2025" b="0">
                <a:solidFill>
                  <a:srgbClr val="EEF4FA"/>
                </a:solidFill>
                <a:latin typeface="Arial"/>
                <a:ea typeface="Arial"/>
                <a:cs typeface="Arial"/>
              </a:defRPr>
            </a:lvl5pPr>
            <a:lvl6pPr>
              <a:defRPr sz="2025" b="0">
                <a:solidFill>
                  <a:srgbClr val="EEF4FA"/>
                </a:solidFill>
                <a:latin typeface="Arial"/>
                <a:ea typeface="Arial"/>
                <a:cs typeface="Arial"/>
              </a:defRPr>
            </a:lvl6pPr>
            <a:lvl7pPr>
              <a:defRPr sz="2025" b="0">
                <a:solidFill>
                  <a:srgbClr val="EEF4FA"/>
                </a:solidFill>
                <a:latin typeface="Arial"/>
                <a:ea typeface="Arial"/>
                <a:cs typeface="Arial"/>
              </a:defRPr>
            </a:lvl7pPr>
            <a:lvl8pPr>
              <a:defRPr sz="2025" b="0">
                <a:solidFill>
                  <a:srgbClr val="EEF4FA"/>
                </a:solidFill>
                <a:latin typeface="Arial"/>
                <a:ea typeface="Arial"/>
                <a:cs typeface="Arial"/>
              </a:defRPr>
            </a:lvl8pPr>
            <a:lvl9pPr>
              <a:defRPr sz="2025" b="0">
                <a:solidFill>
                  <a:srgbClr val="EEF4FA"/>
                </a:solidFill>
                <a:latin typeface="Arial"/>
                <a:ea typeface="Arial"/>
                <a:cs typeface="Arial"/>
              </a:defRPr>
            </a:lvl9pPr>
          </a:lstStyle>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Euler explicite</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Détection discrète O(n²)</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Itérations limitées</a:t>
            </a:r>
          </a:p>
          <a:p xmlns:a="http://schemas.openxmlformats.org/drawingml/2006/main">
            <a:pPr>
              <a:defRPr sz="2025" b="0">
                <a:solidFill>
                  <a:srgbClr val="EEF4FA"/>
                </a:solidFill>
                <a:latin typeface="Arial"/>
                <a:ea typeface="Arial"/>
                <a:cs typeface="Arial"/>
              </a:defRPr>
            </a:pPr>
            <a:r>
              <a:rPr sz="2025" b="0">
                <a:solidFill>
                  <a:srgbClr val="EEF4FA"/>
                </a:solidFill>
                <a:latin typeface="Arial"/>
                <a:ea typeface="Arial"/>
                <a:cs typeface="Arial"/>
              </a:rPr>
              <a:t>Friction sur un axe</a:t>
            </a:r>
          </a:p>
        </p:txBody>
      </p:sp>
    </p:spTree>
    <p:extLst>
      <p:ext uri="{BB962C8B-B14F-4D97-AF65-F5344CB8AC3E}">
        <p14:creationId xmlns:p14="http://schemas.microsoft.com/office/powerpoint/2010/main" val="1171975736"/>
      </p:ext>
    </p:extLst>
  </p:cSld>
</p:sld>
</file>

<file path=ppt/slides/slide14.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2A6A47D-3D90-4D12-9995-94F6AF0C026B}"/>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Bilan de la phase 2</a:t>
            </a:r>
          </a:p>
        </p:txBody>
      </p:sp>
      <p:sp>
        <p:nvSpPr>
          <p:cNvPr id="3" name="">
            <a:extLst xmlns:a="http://schemas.openxmlformats.org/drawingml/2006/main">
              <a:ext uri="{FF2B5EF4-FFF2-40B4-BE49-F238E27FC236}">
                <a16:creationId xmlns:a16="http://schemas.microsoft.com/office/drawing/2014/main" id="{9912AE3F-5854-46C1-8FC3-0C825587121C}"/>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4743DA80-54E6-4144-ABEB-7A335F2169DF}"/>
              </a:ext>
            </a:extLst>
          </p:cNvPr>
          <p:cNvSpPr>
            <a:spLocks xmlns:a="http://schemas.openxmlformats.org/drawingml/2006/main" noGrp="1"/>
          </p:cNvSpPr>
          <p:nvPr/>
        </p:nvSpPr>
        <p:spPr>
          <a:xfrm xmlns:a="http://schemas.openxmlformats.org/drawingml/2006/main">
            <a:off x="609600" y="2200275"/>
            <a:ext cx="109728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Un moteur de particules piloté par les forces</a:t>
            </a:r>
          </a:p>
        </p:txBody>
      </p:sp>
      <p:sp>
        <p:nvSpPr>
          <p:cNvPr id="5" name="">
            <a:extLst xmlns:a="http://schemas.openxmlformats.org/drawingml/2006/main">
              <a:ext uri="{FF2B5EF4-FFF2-40B4-BE49-F238E27FC236}">
                <a16:creationId xmlns:a16="http://schemas.microsoft.com/office/drawing/2014/main" id="{C7D06F24-BABE-47EC-A87A-1CD3EC1C31FF}"/>
              </a:ext>
            </a:extLst>
          </p:cNvPr>
          <p:cNvSpPr>
            <a:spLocks xmlns:a="http://schemas.openxmlformats.org/drawingml/2006/main" noGrp="1"/>
          </p:cNvSpPr>
          <p:nvPr/>
        </p:nvSpPr>
        <p:spPr>
          <a:xfrm xmlns:a="http://schemas.openxmlformats.org/drawingml/2006/main">
            <a:off x="609600" y="337185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Un blob qui se déforme, se sépare et se reforme</a:t>
            </a:r>
          </a:p>
        </p:txBody>
      </p:sp>
      <p:sp>
        <p:nvSpPr>
          <p:cNvPr id="6" name="">
            <a:extLst xmlns:a="http://schemas.openxmlformats.org/drawingml/2006/main">
              <a:ext uri="{FF2B5EF4-FFF2-40B4-BE49-F238E27FC236}">
                <a16:creationId xmlns:a16="http://schemas.microsoft.com/office/drawing/2014/main" id="{B23B1CE1-E13E-4408-8675-A2763D7669BF}"/>
              </a:ext>
            </a:extLst>
          </p:cNvPr>
          <p:cNvSpPr>
            <a:spLocks xmlns:a="http://schemas.openxmlformats.org/drawingml/2006/main" noGrp="1"/>
          </p:cNvSpPr>
          <p:nvPr/>
        </p:nvSpPr>
        <p:spPr>
          <a:xfrm xmlns:a="http://schemas.openxmlformats.org/drawingml/2006/main">
            <a:off x="609600" y="47815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Des comportements reliés aux formules du cours</a:t>
            </a:r>
          </a:p>
        </p:txBody>
      </p:sp>
      <p:sp>
        <p:nvSpPr>
          <p:cNvPr id="7" name="">
            <a:extLst xmlns:a="http://schemas.openxmlformats.org/drawingml/2006/main">
              <a:ext uri="{FF2B5EF4-FFF2-40B4-BE49-F238E27FC236}">
                <a16:creationId xmlns:a16="http://schemas.microsoft.com/office/drawing/2014/main" id="{FBD659DC-622D-44E6-8D90-CB7F0A8E37BD}"/>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Questions et détails mathématiques dans les annexes</a:t>
            </a:r>
          </a:p>
        </p:txBody>
      </p:sp>
    </p:spTree>
    <p:extLst>
      <p:ext uri="{BB962C8B-B14F-4D97-AF65-F5344CB8AC3E}">
        <p14:creationId xmlns:p14="http://schemas.microsoft.com/office/powerpoint/2010/main" val="817493897"/>
      </p:ext>
    </p:extLst>
  </p:cSld>
</p:sld>
</file>

<file path=ppt/slides/slide15.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4BF5459-0F8A-40D7-A0A6-31CFBEBDD4D7}"/>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Annexe A : détail de l’impulsion</a:t>
            </a:r>
          </a:p>
        </p:txBody>
      </p:sp>
      <p:sp>
        <p:nvSpPr>
          <p:cNvPr id="3" name="">
            <a:extLst xmlns:a="http://schemas.openxmlformats.org/drawingml/2006/main">
              <a:ext uri="{FF2B5EF4-FFF2-40B4-BE49-F238E27FC236}">
                <a16:creationId xmlns:a16="http://schemas.microsoft.com/office/drawing/2014/main" id="{2BE40FB6-A1FC-4C00-8960-2D25E5C6537E}"/>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Convention du code : n va de B vers A et w = 1/m</a:t>
            </a:r>
          </a:p>
        </p:txBody>
      </p:sp>
      <p:sp>
        <p:nvSpPr>
          <p:cNvPr id="4" name="">
            <a:extLst xmlns:a="http://schemas.openxmlformats.org/drawingml/2006/main">
              <a:ext uri="{FF2B5EF4-FFF2-40B4-BE49-F238E27FC236}">
                <a16:creationId xmlns:a16="http://schemas.microsoft.com/office/drawing/2014/main" id="{C5D309F1-1A2D-4B0E-91A4-D4027737252C}"/>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0A0D5B03-D250-42FA-96C9-CF0630482759}"/>
              </a:ext>
            </a:extLst>
          </p:cNvPr>
          <p:cNvSpPr>
            <a:spLocks xmlns:a="http://schemas.openxmlformats.org/drawingml/2006/main" noGrp="1"/>
          </p:cNvSpPr>
          <p:nvPr/>
        </p:nvSpPr>
        <p:spPr>
          <a:xfrm xmlns:a="http://schemas.openxmlformats.org/drawingml/2006/main">
            <a:off x="609600" y="2133600"/>
            <a:ext cx="109728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EEF4FA"/>
                </a:solidFill>
                <a:latin typeface="Arial"/>
                <a:ea typeface="Arial"/>
                <a:cs typeface="Arial"/>
              </a:defRPr>
            </a:defPPr>
            <a:lvl1pPr>
              <a:defRPr sz="2775" b="0">
                <a:solidFill>
                  <a:srgbClr val="EEF4FA"/>
                </a:solidFill>
                <a:latin typeface="Arial"/>
                <a:ea typeface="Arial"/>
                <a:cs typeface="Arial"/>
              </a:defRPr>
            </a:lvl1pPr>
            <a:lvl2pPr>
              <a:defRPr sz="2775" b="0">
                <a:solidFill>
                  <a:srgbClr val="EEF4FA"/>
                </a:solidFill>
                <a:latin typeface="Arial"/>
                <a:ea typeface="Arial"/>
                <a:cs typeface="Arial"/>
              </a:defRPr>
            </a:lvl2pPr>
            <a:lvl3pPr>
              <a:defRPr sz="2775" b="0">
                <a:solidFill>
                  <a:srgbClr val="EEF4FA"/>
                </a:solidFill>
                <a:latin typeface="Arial"/>
                <a:ea typeface="Arial"/>
                <a:cs typeface="Arial"/>
              </a:defRPr>
            </a:lvl3pPr>
            <a:lvl4pPr>
              <a:defRPr sz="2775" b="0">
                <a:solidFill>
                  <a:srgbClr val="EEF4FA"/>
                </a:solidFill>
                <a:latin typeface="Arial"/>
                <a:ea typeface="Arial"/>
                <a:cs typeface="Arial"/>
              </a:defRPr>
            </a:lvl4pPr>
            <a:lvl5pPr>
              <a:defRPr sz="2775" b="0">
                <a:solidFill>
                  <a:srgbClr val="EEF4FA"/>
                </a:solidFill>
                <a:latin typeface="Arial"/>
                <a:ea typeface="Arial"/>
                <a:cs typeface="Arial"/>
              </a:defRPr>
            </a:lvl5pPr>
            <a:lvl6pPr>
              <a:defRPr sz="2775" b="0">
                <a:solidFill>
                  <a:srgbClr val="EEF4FA"/>
                </a:solidFill>
                <a:latin typeface="Arial"/>
                <a:ea typeface="Arial"/>
                <a:cs typeface="Arial"/>
              </a:defRPr>
            </a:lvl6pPr>
            <a:lvl7pPr>
              <a:defRPr sz="2775" b="0">
                <a:solidFill>
                  <a:srgbClr val="EEF4FA"/>
                </a:solidFill>
                <a:latin typeface="Arial"/>
                <a:ea typeface="Arial"/>
                <a:cs typeface="Arial"/>
              </a:defRPr>
            </a:lvl7pPr>
            <a:lvl8pPr>
              <a:defRPr sz="2775" b="0">
                <a:solidFill>
                  <a:srgbClr val="EEF4FA"/>
                </a:solidFill>
                <a:latin typeface="Arial"/>
                <a:ea typeface="Arial"/>
                <a:cs typeface="Arial"/>
              </a:defRPr>
            </a:lvl8pPr>
            <a:lvl9pPr>
              <a:defRPr sz="2775" b="0">
                <a:solidFill>
                  <a:srgbClr val="EEF4FA"/>
                </a:solidFill>
                <a:latin typeface="Arial"/>
                <a:ea typeface="Arial"/>
                <a:cs typeface="Arial"/>
              </a:defRPr>
            </a:lvl9pPr>
          </a:lstStyle>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v′sep = vsep + j (wA + wB)</a:t>
            </a:r>
          </a:p>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v′sep = −e vsep</a:t>
            </a:r>
          </a:p>
          <a:p xmlns:a="http://schemas.openxmlformats.org/drawingml/2006/main">
            <a:pPr>
              <a:defRPr sz="2775" b="0">
                <a:solidFill>
                  <a:srgbClr val="EEF4FA"/>
                </a:solidFill>
                <a:latin typeface="Arial"/>
                <a:ea typeface="Arial"/>
                <a:cs typeface="Arial"/>
              </a:defRPr>
            </a:pPr>
            <a:r>
              <a:rPr sz="2775" b="0">
                <a:solidFill>
                  <a:srgbClr val="EEF4FA"/>
                </a:solidFill>
                <a:latin typeface="Arial"/>
                <a:ea typeface="Arial"/>
                <a:cs typeface="Arial"/>
              </a:rPr>
              <a:t>j = −(1 + e) vsep / (wA + wB)</a:t>
            </a:r>
          </a:p>
        </p:txBody>
      </p:sp>
      <p:sp>
        <p:nvSpPr>
          <p:cNvPr id="6" name="">
            <a:extLst xmlns:a="http://schemas.openxmlformats.org/drawingml/2006/main">
              <a:ext uri="{FF2B5EF4-FFF2-40B4-BE49-F238E27FC236}">
                <a16:creationId xmlns:a16="http://schemas.microsoft.com/office/drawing/2014/main" id="{401B11D0-0BED-414C-AB33-126CABC7E2BC}"/>
              </a:ext>
            </a:extLst>
          </p:cNvPr>
          <p:cNvSpPr>
            <a:spLocks xmlns:a="http://schemas.openxmlformats.org/drawingml/2006/main" noGrp="1"/>
          </p:cNvSpPr>
          <p:nvPr/>
        </p:nvSpPr>
        <p:spPr>
          <a:xfrm xmlns:a="http://schemas.openxmlformats.org/drawingml/2006/main">
            <a:off x="609600" y="4533900"/>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EEF4FA"/>
                </a:solidFill>
                <a:latin typeface="Arial"/>
                <a:ea typeface="Arial"/>
                <a:cs typeface="Arial"/>
              </a:defRPr>
            </a:defPPr>
            <a:lvl1pPr>
              <a:defRPr sz="2475" b="0">
                <a:solidFill>
                  <a:srgbClr val="EEF4FA"/>
                </a:solidFill>
                <a:latin typeface="Arial"/>
                <a:ea typeface="Arial"/>
                <a:cs typeface="Arial"/>
              </a:defRPr>
            </a:lvl1pPr>
            <a:lvl2pPr>
              <a:defRPr sz="2475" b="0">
                <a:solidFill>
                  <a:srgbClr val="EEF4FA"/>
                </a:solidFill>
                <a:latin typeface="Arial"/>
                <a:ea typeface="Arial"/>
                <a:cs typeface="Arial"/>
              </a:defRPr>
            </a:lvl2pPr>
            <a:lvl3pPr>
              <a:defRPr sz="2475" b="0">
                <a:solidFill>
                  <a:srgbClr val="EEF4FA"/>
                </a:solidFill>
                <a:latin typeface="Arial"/>
                <a:ea typeface="Arial"/>
                <a:cs typeface="Arial"/>
              </a:defRPr>
            </a:lvl3pPr>
            <a:lvl4pPr>
              <a:defRPr sz="2475" b="0">
                <a:solidFill>
                  <a:srgbClr val="EEF4FA"/>
                </a:solidFill>
                <a:latin typeface="Arial"/>
                <a:ea typeface="Arial"/>
                <a:cs typeface="Arial"/>
              </a:defRPr>
            </a:lvl4pPr>
            <a:lvl5pPr>
              <a:defRPr sz="2475" b="0">
                <a:solidFill>
                  <a:srgbClr val="EEF4FA"/>
                </a:solidFill>
                <a:latin typeface="Arial"/>
                <a:ea typeface="Arial"/>
                <a:cs typeface="Arial"/>
              </a:defRPr>
            </a:lvl5pPr>
            <a:lvl6pPr>
              <a:defRPr sz="2475" b="0">
                <a:solidFill>
                  <a:srgbClr val="EEF4FA"/>
                </a:solidFill>
                <a:latin typeface="Arial"/>
                <a:ea typeface="Arial"/>
                <a:cs typeface="Arial"/>
              </a:defRPr>
            </a:lvl6pPr>
            <a:lvl7pPr>
              <a:defRPr sz="2475" b="0">
                <a:solidFill>
                  <a:srgbClr val="EEF4FA"/>
                </a:solidFill>
                <a:latin typeface="Arial"/>
                <a:ea typeface="Arial"/>
                <a:cs typeface="Arial"/>
              </a:defRPr>
            </a:lvl7pPr>
            <a:lvl8pPr>
              <a:defRPr sz="2475" b="0">
                <a:solidFill>
                  <a:srgbClr val="EEF4FA"/>
                </a:solidFill>
                <a:latin typeface="Arial"/>
                <a:ea typeface="Arial"/>
                <a:cs typeface="Arial"/>
              </a:defRPr>
            </a:lvl8pPr>
            <a:lvl9pPr>
              <a:defRPr sz="2475" b="0">
                <a:solidFill>
                  <a:srgbClr val="EEF4FA"/>
                </a:solidFill>
                <a:latin typeface="Arial"/>
                <a:ea typeface="Arial"/>
                <a:cs typeface="Arial"/>
              </a:defRPr>
            </a:lvl9pPr>
          </a:lstStyle>
          <a:p xmlns:a="http://schemas.openxmlformats.org/drawingml/2006/main">
            <a:pPr>
              <a:defRPr sz="2475" b="0">
                <a:solidFill>
                  <a:srgbClr val="EEF4FA"/>
                </a:solidFill>
                <a:latin typeface="Arial"/>
                <a:ea typeface="Arial"/>
                <a:cs typeface="Arial"/>
              </a:defRPr>
            </a:pPr>
            <a:r>
              <a:rPr sz="2475" b="0">
                <a:solidFill>
                  <a:srgbClr val="EEF4FA"/>
                </a:solidFill>
                <a:latin typeface="Arial"/>
                <a:ea typeface="Arial"/>
                <a:cs typeface="Arial"/>
              </a:rPr>
              <a:t>ΔpA = +δ wA n / (wA + wB)</a:t>
            </a:r>
          </a:p>
          <a:p xmlns:a="http://schemas.openxmlformats.org/drawingml/2006/main">
            <a:pPr>
              <a:defRPr sz="2475" b="0">
                <a:solidFill>
                  <a:srgbClr val="EEF4FA"/>
                </a:solidFill>
                <a:latin typeface="Arial"/>
                <a:ea typeface="Arial"/>
                <a:cs typeface="Arial"/>
              </a:defRPr>
            </a:pPr>
            <a:r>
              <a:rPr sz="2475" b="0">
                <a:solidFill>
                  <a:srgbClr val="EEF4FA"/>
                </a:solidFill>
                <a:latin typeface="Arial"/>
                <a:ea typeface="Arial"/>
                <a:cs typeface="Arial"/>
              </a:rPr>
              <a:t>ΔpB = −δ wB n / (wA + wB)</a:t>
            </a:r>
          </a:p>
        </p:txBody>
      </p:sp>
      <p:sp>
        <p:nvSpPr>
          <p:cNvPr id="7" name="">
            <a:extLst xmlns:a="http://schemas.openxmlformats.org/drawingml/2006/main">
              <a:ext uri="{FF2B5EF4-FFF2-40B4-BE49-F238E27FC236}">
                <a16:creationId xmlns:a16="http://schemas.microsoft.com/office/drawing/2014/main" id="{886B7D2D-7EC0-4B01-BA7D-D772CCD40A59}"/>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Les termes Δp ci-dessus désignent les corrections de position.</a:t>
            </a:r>
          </a:p>
        </p:txBody>
      </p:sp>
    </p:spTree>
    <p:extLst>
      <p:ext uri="{BB962C8B-B14F-4D97-AF65-F5344CB8AC3E}">
        <p14:creationId xmlns:p14="http://schemas.microsoft.com/office/powerpoint/2010/main" val="1709574176"/>
      </p:ext>
    </p:extLst>
  </p:cSld>
</p:sld>
</file>

<file path=ppt/slides/slide16.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48B8A7-141C-4C85-8E04-8A86916738B8}"/>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Annexe B : oscillateur du HUD</a:t>
            </a:r>
          </a:p>
        </p:txBody>
      </p:sp>
      <p:sp>
        <p:nvSpPr>
          <p:cNvPr id="3" name="">
            <a:extLst xmlns:a="http://schemas.openxmlformats.org/drawingml/2006/main">
              <a:ext uri="{FF2B5EF4-FFF2-40B4-BE49-F238E27FC236}">
                <a16:creationId xmlns:a16="http://schemas.microsoft.com/office/drawing/2014/main" id="{7CE77D67-DE62-4C98-A51B-DA27731CAD6F}"/>
              </a:ext>
            </a:extLst>
          </p:cNvPr>
          <p:cNvSpPr>
            <a:spLocks xmlns:a="http://schemas.openxmlformats.org/drawingml/2006/main" noGrp="1"/>
          </p:cNvSpPr>
          <p:nvPr/>
        </p:nvSpPr>
        <p:spPr>
          <a:xfrm xmlns:a="http://schemas.openxmlformats.org/drawingml/2006/main">
            <a:off x="609600" y="12382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A9BDD1"/>
                </a:solidFill>
                <a:latin typeface="Arial"/>
                <a:ea typeface="Arial"/>
                <a:cs typeface="Arial"/>
              </a:defRPr>
            </a:defPPr>
            <a:lvl1pPr>
              <a:defRPr sz="1875" b="0">
                <a:solidFill>
                  <a:srgbClr val="A9BDD1"/>
                </a:solidFill>
                <a:latin typeface="Arial"/>
                <a:ea typeface="Arial"/>
                <a:cs typeface="Arial"/>
              </a:defRPr>
            </a:lvl1pPr>
            <a:lvl2pPr>
              <a:defRPr sz="1875" b="0">
                <a:solidFill>
                  <a:srgbClr val="A9BDD1"/>
                </a:solidFill>
                <a:latin typeface="Arial"/>
                <a:ea typeface="Arial"/>
                <a:cs typeface="Arial"/>
              </a:defRPr>
            </a:lvl2pPr>
            <a:lvl3pPr>
              <a:defRPr sz="1875" b="0">
                <a:solidFill>
                  <a:srgbClr val="A9BDD1"/>
                </a:solidFill>
                <a:latin typeface="Arial"/>
                <a:ea typeface="Arial"/>
                <a:cs typeface="Arial"/>
              </a:defRPr>
            </a:lvl3pPr>
            <a:lvl4pPr>
              <a:defRPr sz="1875" b="0">
                <a:solidFill>
                  <a:srgbClr val="A9BDD1"/>
                </a:solidFill>
                <a:latin typeface="Arial"/>
                <a:ea typeface="Arial"/>
                <a:cs typeface="Arial"/>
              </a:defRPr>
            </a:lvl4pPr>
            <a:lvl5pPr>
              <a:defRPr sz="1875" b="0">
                <a:solidFill>
                  <a:srgbClr val="A9BDD1"/>
                </a:solidFill>
                <a:latin typeface="Arial"/>
                <a:ea typeface="Arial"/>
                <a:cs typeface="Arial"/>
              </a:defRPr>
            </a:lvl5pPr>
            <a:lvl6pPr>
              <a:defRPr sz="1875" b="0">
                <a:solidFill>
                  <a:srgbClr val="A9BDD1"/>
                </a:solidFill>
                <a:latin typeface="Arial"/>
                <a:ea typeface="Arial"/>
                <a:cs typeface="Arial"/>
              </a:defRPr>
            </a:lvl6pPr>
            <a:lvl7pPr>
              <a:defRPr sz="1875" b="0">
                <a:solidFill>
                  <a:srgbClr val="A9BDD1"/>
                </a:solidFill>
                <a:latin typeface="Arial"/>
                <a:ea typeface="Arial"/>
                <a:cs typeface="Arial"/>
              </a:defRPr>
            </a:lvl7pPr>
            <a:lvl8pPr>
              <a:defRPr sz="1875" b="0">
                <a:solidFill>
                  <a:srgbClr val="A9BDD1"/>
                </a:solidFill>
                <a:latin typeface="Arial"/>
                <a:ea typeface="Arial"/>
                <a:cs typeface="Arial"/>
              </a:defRPr>
            </a:lvl8pPr>
            <a:lvl9pPr>
              <a:defRPr sz="1875" b="0">
                <a:solidFill>
                  <a:srgbClr val="A9BDD1"/>
                </a:solidFill>
                <a:latin typeface="Arial"/>
                <a:ea typeface="Arial"/>
                <a:cs typeface="Arial"/>
              </a:defRPr>
            </a:lvl9pPr>
          </a:lstStyle>
          <a:p xmlns:a="http://schemas.openxmlformats.org/drawingml/2006/main">
            <a:pPr>
              <a:defRPr sz="1875" b="0">
                <a:solidFill>
                  <a:srgbClr val="A9BDD1"/>
                </a:solidFill>
                <a:latin typeface="Arial"/>
                <a:ea typeface="Arial"/>
                <a:cs typeface="Arial"/>
              </a:defRPr>
            </a:pPr>
            <a:r>
              <a:rPr sz="1875" b="0">
                <a:solidFill>
                  <a:srgbClr val="A9BDD1"/>
                </a:solidFill>
                <a:latin typeface="Arial"/>
                <a:ea typeface="Arial"/>
                <a:cs typeface="Arial"/>
              </a:rPr>
              <a:t>Solution sous-amortie du chapitre 5</a:t>
            </a:r>
          </a:p>
        </p:txBody>
      </p:sp>
      <p:sp>
        <p:nvSpPr>
          <p:cNvPr id="4" name="">
            <a:extLst xmlns:a="http://schemas.openxmlformats.org/drawingml/2006/main">
              <a:ext uri="{FF2B5EF4-FFF2-40B4-BE49-F238E27FC236}">
                <a16:creationId xmlns:a16="http://schemas.microsoft.com/office/drawing/2014/main" id="{24933F48-74FF-4252-B429-34AF25E31B3C}"/>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6DC8D254-32DE-4F20-A46C-CC40A6F72C10}"/>
              </a:ext>
            </a:extLst>
          </p:cNvPr>
          <p:cNvSpPr>
            <a:spLocks xmlns:a="http://schemas.openxmlformats.org/drawingml/2006/main" noGrp="1"/>
          </p:cNvSpPr>
          <p:nvPr/>
        </p:nvSpPr>
        <p:spPr>
          <a:xfrm xmlns:a="http://schemas.openxmlformats.org/drawingml/2006/main">
            <a:off x="609600" y="2095500"/>
            <a:ext cx="109728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EEF4FA"/>
                </a:solidFill>
                <a:latin typeface="Arial"/>
                <a:ea typeface="Arial"/>
                <a:cs typeface="Arial"/>
              </a:defRPr>
            </a:defPPr>
            <a:lvl1pPr>
              <a:defRPr sz="2550" b="0">
                <a:solidFill>
                  <a:srgbClr val="EEF4FA"/>
                </a:solidFill>
                <a:latin typeface="Arial"/>
                <a:ea typeface="Arial"/>
                <a:cs typeface="Arial"/>
              </a:defRPr>
            </a:lvl1pPr>
            <a:lvl2pPr>
              <a:defRPr sz="2550" b="0">
                <a:solidFill>
                  <a:srgbClr val="EEF4FA"/>
                </a:solidFill>
                <a:latin typeface="Arial"/>
                <a:ea typeface="Arial"/>
                <a:cs typeface="Arial"/>
              </a:defRPr>
            </a:lvl2pPr>
            <a:lvl3pPr>
              <a:defRPr sz="2550" b="0">
                <a:solidFill>
                  <a:srgbClr val="EEF4FA"/>
                </a:solidFill>
                <a:latin typeface="Arial"/>
                <a:ea typeface="Arial"/>
                <a:cs typeface="Arial"/>
              </a:defRPr>
            </a:lvl3pPr>
            <a:lvl4pPr>
              <a:defRPr sz="2550" b="0">
                <a:solidFill>
                  <a:srgbClr val="EEF4FA"/>
                </a:solidFill>
                <a:latin typeface="Arial"/>
                <a:ea typeface="Arial"/>
                <a:cs typeface="Arial"/>
              </a:defRPr>
            </a:lvl4pPr>
            <a:lvl5pPr>
              <a:defRPr sz="2550" b="0">
                <a:solidFill>
                  <a:srgbClr val="EEF4FA"/>
                </a:solidFill>
                <a:latin typeface="Arial"/>
                <a:ea typeface="Arial"/>
                <a:cs typeface="Arial"/>
              </a:defRPr>
            </a:lvl5pPr>
            <a:lvl6pPr>
              <a:defRPr sz="2550" b="0">
                <a:solidFill>
                  <a:srgbClr val="EEF4FA"/>
                </a:solidFill>
                <a:latin typeface="Arial"/>
                <a:ea typeface="Arial"/>
                <a:cs typeface="Arial"/>
              </a:defRPr>
            </a:lvl6pPr>
            <a:lvl7pPr>
              <a:defRPr sz="2550" b="0">
                <a:solidFill>
                  <a:srgbClr val="EEF4FA"/>
                </a:solidFill>
                <a:latin typeface="Arial"/>
                <a:ea typeface="Arial"/>
                <a:cs typeface="Arial"/>
              </a:defRPr>
            </a:lvl7pPr>
            <a:lvl8pPr>
              <a:defRPr sz="2550" b="0">
                <a:solidFill>
                  <a:srgbClr val="EEF4FA"/>
                </a:solidFill>
                <a:latin typeface="Arial"/>
                <a:ea typeface="Arial"/>
                <a:cs typeface="Arial"/>
              </a:defRPr>
            </a:lvl8pPr>
            <a:lvl9pPr>
              <a:defRPr sz="2550" b="0">
                <a:solidFill>
                  <a:srgbClr val="EEF4FA"/>
                </a:solidFill>
                <a:latin typeface="Arial"/>
                <a:ea typeface="Arial"/>
                <a:cs typeface="Arial"/>
              </a:defRPr>
            </a:lvl9pPr>
          </a:lstStyle>
          <a:p xmlns:a="http://schemas.openxmlformats.org/drawingml/2006/main">
            <a:pPr>
              <a:defRPr sz="2550" b="0">
                <a:solidFill>
                  <a:srgbClr val="EEF4FA"/>
                </a:solidFill>
                <a:latin typeface="Arial"/>
                <a:ea typeface="Arial"/>
                <a:cs typeface="Arial"/>
              </a:defRPr>
            </a:pPr>
            <a:r>
              <a:rPr sz="2550" b="0">
                <a:solidFill>
                  <a:srgbClr val="EEF4FA"/>
                </a:solidFill>
                <a:latin typeface="Arial"/>
                <a:ea typeface="Arial"/>
                <a:cs typeface="Arial"/>
              </a:rPr>
              <a:t>ω₀ = √(k/m) = 14 rad/s</a:t>
            </a:r>
          </a:p>
          <a:p xmlns:a="http://schemas.openxmlformats.org/drawingml/2006/main">
            <a:pPr>
              <a:defRPr sz="2550" b="0">
                <a:solidFill>
                  <a:srgbClr val="EEF4FA"/>
                </a:solidFill>
                <a:latin typeface="Arial"/>
                <a:ea typeface="Arial"/>
                <a:cs typeface="Arial"/>
              </a:defRPr>
            </a:pPr>
            <a:r>
              <a:rPr sz="2550" b="0">
                <a:solidFill>
                  <a:srgbClr val="EEF4FA"/>
                </a:solidFill>
                <a:latin typeface="Arial"/>
                <a:ea typeface="Arial"/>
                <a:cs typeface="Arial"/>
              </a:rPr>
              <a:t>λ = c/(2m) = 4,5 s⁻¹</a:t>
            </a:r>
          </a:p>
          <a:p xmlns:a="http://schemas.openxmlformats.org/drawingml/2006/main">
            <a:pPr>
              <a:defRPr sz="2550" b="0">
                <a:solidFill>
                  <a:srgbClr val="EEF4FA"/>
                </a:solidFill>
                <a:latin typeface="Arial"/>
                <a:ea typeface="Arial"/>
                <a:cs typeface="Arial"/>
              </a:defRPr>
            </a:pPr>
            <a:r>
              <a:rPr sz="2550" b="0">
                <a:solidFill>
                  <a:srgbClr val="EEF4FA"/>
                </a:solidFill>
                <a:latin typeface="Arial"/>
                <a:ea typeface="Arial"/>
                <a:cs typeface="Arial"/>
              </a:rPr>
              <a:t>ω = √(ω₀² − λ²) ≈ 13,26 rad/s</a:t>
            </a:r>
          </a:p>
        </p:txBody>
      </p:sp>
      <p:sp>
        <p:nvSpPr>
          <p:cNvPr id="6" name="">
            <a:extLst xmlns:a="http://schemas.openxmlformats.org/drawingml/2006/main">
              <a:ext uri="{FF2B5EF4-FFF2-40B4-BE49-F238E27FC236}">
                <a16:creationId xmlns:a16="http://schemas.microsoft.com/office/drawing/2014/main" id="{DC6FD65C-1A3C-42F4-B2BE-B02AAC05348C}"/>
              </a:ext>
            </a:extLst>
          </p:cNvPr>
          <p:cNvSpPr>
            <a:spLocks xmlns:a="http://schemas.openxmlformats.org/drawingml/2006/main" noGrp="1"/>
          </p:cNvSpPr>
          <p:nvPr/>
        </p:nvSpPr>
        <p:spPr>
          <a:xfrm xmlns:a="http://schemas.openxmlformats.org/drawingml/2006/main">
            <a:off x="609600" y="4257675"/>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EEF4FA"/>
                </a:solidFill>
                <a:latin typeface="Arial"/>
                <a:ea typeface="Arial"/>
                <a:cs typeface="Arial"/>
              </a:defRPr>
            </a:defPPr>
            <a:lvl1pPr>
              <a:defRPr sz="2325" b="0">
                <a:solidFill>
                  <a:srgbClr val="EEF4FA"/>
                </a:solidFill>
                <a:latin typeface="Arial"/>
                <a:ea typeface="Arial"/>
                <a:cs typeface="Arial"/>
              </a:defRPr>
            </a:lvl1pPr>
            <a:lvl2pPr>
              <a:defRPr sz="2325" b="0">
                <a:solidFill>
                  <a:srgbClr val="EEF4FA"/>
                </a:solidFill>
                <a:latin typeface="Arial"/>
                <a:ea typeface="Arial"/>
                <a:cs typeface="Arial"/>
              </a:defRPr>
            </a:lvl2pPr>
            <a:lvl3pPr>
              <a:defRPr sz="2325" b="0">
                <a:solidFill>
                  <a:srgbClr val="EEF4FA"/>
                </a:solidFill>
                <a:latin typeface="Arial"/>
                <a:ea typeface="Arial"/>
                <a:cs typeface="Arial"/>
              </a:defRPr>
            </a:lvl3pPr>
            <a:lvl4pPr>
              <a:defRPr sz="2325" b="0">
                <a:solidFill>
                  <a:srgbClr val="EEF4FA"/>
                </a:solidFill>
                <a:latin typeface="Arial"/>
                <a:ea typeface="Arial"/>
                <a:cs typeface="Arial"/>
              </a:defRPr>
            </a:lvl4pPr>
            <a:lvl5pPr>
              <a:defRPr sz="2325" b="0">
                <a:solidFill>
                  <a:srgbClr val="EEF4FA"/>
                </a:solidFill>
                <a:latin typeface="Arial"/>
                <a:ea typeface="Arial"/>
                <a:cs typeface="Arial"/>
              </a:defRPr>
            </a:lvl5pPr>
            <a:lvl6pPr>
              <a:defRPr sz="2325" b="0">
                <a:solidFill>
                  <a:srgbClr val="EEF4FA"/>
                </a:solidFill>
                <a:latin typeface="Arial"/>
                <a:ea typeface="Arial"/>
                <a:cs typeface="Arial"/>
              </a:defRPr>
            </a:lvl6pPr>
            <a:lvl7pPr>
              <a:defRPr sz="2325" b="0">
                <a:solidFill>
                  <a:srgbClr val="EEF4FA"/>
                </a:solidFill>
                <a:latin typeface="Arial"/>
                <a:ea typeface="Arial"/>
                <a:cs typeface="Arial"/>
              </a:defRPr>
            </a:lvl7pPr>
            <a:lvl8pPr>
              <a:defRPr sz="2325" b="0">
                <a:solidFill>
                  <a:srgbClr val="EEF4FA"/>
                </a:solidFill>
                <a:latin typeface="Arial"/>
                <a:ea typeface="Arial"/>
                <a:cs typeface="Arial"/>
              </a:defRPr>
            </a:lvl8pPr>
            <a:lvl9pPr>
              <a:defRPr sz="2325" b="0">
                <a:solidFill>
                  <a:srgbClr val="EEF4FA"/>
                </a:solidFill>
                <a:latin typeface="Arial"/>
                <a:ea typeface="Arial"/>
                <a:cs typeface="Arial"/>
              </a:defRPr>
            </a:lvl9pPr>
          </a:lstStyle>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K₁ = x(0) = −22 px</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K₂ = [λ x(0) + v(0)] / ω</a:t>
            </a:r>
          </a:p>
          <a:p xmlns:a="http://schemas.openxmlformats.org/drawingml/2006/main">
            <a:pPr>
              <a:defRPr sz="2325" b="0">
                <a:solidFill>
                  <a:srgbClr val="EEF4FA"/>
                </a:solidFill>
                <a:latin typeface="Arial"/>
                <a:ea typeface="Arial"/>
                <a:cs typeface="Arial"/>
              </a:defRPr>
            </a:pPr>
            <a:r>
              <a:rPr sz="2325" b="0">
                <a:solidFill>
                  <a:srgbClr val="EEF4FA"/>
                </a:solidFill>
                <a:latin typeface="Arial"/>
                <a:ea typeface="Arial"/>
                <a:cs typeface="Arial"/>
              </a:rPr>
              <a:t>x(t) = exp(−λt) [K₁ cos(ω t) + K₂ sin(ω t)]</a:t>
            </a:r>
          </a:p>
        </p:txBody>
      </p:sp>
    </p:spTree>
    <p:extLst>
      <p:ext uri="{BB962C8B-B14F-4D97-AF65-F5344CB8AC3E}">
        <p14:creationId xmlns:p14="http://schemas.microsoft.com/office/powerpoint/2010/main" val="986525662"/>
      </p:ext>
    </p:extLst>
  </p:cSld>
</p:sld>
</file>

<file path=ppt/slides/slide17.xml><?xml version="1.0" encoding="utf-8"?>
<p:sld xmlns:p="http://schemas.openxmlformats.org/presentationml/2006/main">
  <p:cSld>
    <p:bg>
      <p:bgPr>
        <a:solidFill xmlns:a="http://schemas.openxmlformats.org/drawingml/2006/main">
          <a:srgbClr val="131B2B"/>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FAC7F5-05D8-4BD4-9874-E6B26AAD12DA}"/>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EEF4FA"/>
                </a:solidFill>
                <a:latin typeface="Arial"/>
                <a:ea typeface="Arial"/>
                <a:cs typeface="Arial"/>
              </a:defRPr>
            </a:defPPr>
            <a:lvl1pPr>
              <a:defRPr sz="3450" b="1">
                <a:solidFill>
                  <a:srgbClr val="EEF4FA"/>
                </a:solidFill>
                <a:latin typeface="Arial"/>
                <a:ea typeface="Arial"/>
                <a:cs typeface="Arial"/>
              </a:defRPr>
            </a:lvl1pPr>
            <a:lvl2pPr>
              <a:defRPr sz="3450" b="1">
                <a:solidFill>
                  <a:srgbClr val="EEF4FA"/>
                </a:solidFill>
                <a:latin typeface="Arial"/>
                <a:ea typeface="Arial"/>
                <a:cs typeface="Arial"/>
              </a:defRPr>
            </a:lvl2pPr>
            <a:lvl3pPr>
              <a:defRPr sz="3450" b="1">
                <a:solidFill>
                  <a:srgbClr val="EEF4FA"/>
                </a:solidFill>
                <a:latin typeface="Arial"/>
                <a:ea typeface="Arial"/>
                <a:cs typeface="Arial"/>
              </a:defRPr>
            </a:lvl3pPr>
            <a:lvl4pPr>
              <a:defRPr sz="3450" b="1">
                <a:solidFill>
                  <a:srgbClr val="EEF4FA"/>
                </a:solidFill>
                <a:latin typeface="Arial"/>
                <a:ea typeface="Arial"/>
                <a:cs typeface="Arial"/>
              </a:defRPr>
            </a:lvl4pPr>
            <a:lvl5pPr>
              <a:defRPr sz="3450" b="1">
                <a:solidFill>
                  <a:srgbClr val="EEF4FA"/>
                </a:solidFill>
                <a:latin typeface="Arial"/>
                <a:ea typeface="Arial"/>
                <a:cs typeface="Arial"/>
              </a:defRPr>
            </a:lvl5pPr>
            <a:lvl6pPr>
              <a:defRPr sz="3450" b="1">
                <a:solidFill>
                  <a:srgbClr val="EEF4FA"/>
                </a:solidFill>
                <a:latin typeface="Arial"/>
                <a:ea typeface="Arial"/>
                <a:cs typeface="Arial"/>
              </a:defRPr>
            </a:lvl6pPr>
            <a:lvl7pPr>
              <a:defRPr sz="3450" b="1">
                <a:solidFill>
                  <a:srgbClr val="EEF4FA"/>
                </a:solidFill>
                <a:latin typeface="Arial"/>
                <a:ea typeface="Arial"/>
                <a:cs typeface="Arial"/>
              </a:defRPr>
            </a:lvl7pPr>
            <a:lvl8pPr>
              <a:defRPr sz="3450" b="1">
                <a:solidFill>
                  <a:srgbClr val="EEF4FA"/>
                </a:solidFill>
                <a:latin typeface="Arial"/>
                <a:ea typeface="Arial"/>
                <a:cs typeface="Arial"/>
              </a:defRPr>
            </a:lvl8pPr>
            <a:lvl9pPr>
              <a:defRPr sz="3450" b="1">
                <a:solidFill>
                  <a:srgbClr val="EEF4FA"/>
                </a:solidFill>
                <a:latin typeface="Arial"/>
                <a:ea typeface="Arial"/>
                <a:cs typeface="Arial"/>
              </a:defRPr>
            </a:lvl9pPr>
          </a:lstStyle>
          <a:p xmlns:a="http://schemas.openxmlformats.org/drawingml/2006/main">
            <a:pPr>
              <a:defRPr sz="3450" b="1">
                <a:solidFill>
                  <a:srgbClr val="EEF4FA"/>
                </a:solidFill>
                <a:latin typeface="Arial"/>
                <a:ea typeface="Arial"/>
                <a:cs typeface="Arial"/>
              </a:defRPr>
            </a:pPr>
            <a:r>
              <a:rPr sz="3450" b="1">
                <a:solidFill>
                  <a:srgbClr val="EEF4FA"/>
                </a:solidFill>
                <a:latin typeface="Arial"/>
                <a:ea typeface="Arial"/>
                <a:cs typeface="Arial"/>
              </a:rPr>
              <a:t>Annexe C : repères dans le cours et le code</a:t>
            </a:r>
          </a:p>
        </p:txBody>
      </p:sp>
      <p:sp>
        <p:nvSpPr>
          <p:cNvPr id="3" name="">
            <a:extLst xmlns:a="http://schemas.openxmlformats.org/drawingml/2006/main">
              <a:ext uri="{FF2B5EF4-FFF2-40B4-BE49-F238E27FC236}">
                <a16:creationId xmlns:a16="http://schemas.microsoft.com/office/drawing/2014/main" id="{01820E61-5D86-496C-948A-D08F37D0203C}"/>
              </a:ext>
            </a:extLst>
          </p:cNvPr>
          <p:cNvSpPr>
            <a:spLocks xmlns:a="http://schemas.openxmlformats.org/drawingml/2006/main" noGrp="1"/>
          </p:cNvSpPr>
          <p:nvPr/>
        </p:nvSpPr>
        <p:spPr>
          <a:xfrm xmlns:a="http://schemas.openxmlformats.org/drawingml/2006/main">
            <a:off x="11144250" y="633412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A9BDD1"/>
                </a:solidFill>
                <a:latin typeface="Arial"/>
                <a:ea typeface="Arial"/>
                <a:cs typeface="Arial"/>
              </a:defRPr>
            </a:defPPr>
            <a:lvl1pPr>
              <a:defRPr sz="1350" b="0">
                <a:solidFill>
                  <a:srgbClr val="A9BDD1"/>
                </a:solidFill>
                <a:latin typeface="Arial"/>
                <a:ea typeface="Arial"/>
                <a:cs typeface="Arial"/>
              </a:defRPr>
            </a:lvl1pPr>
            <a:lvl2pPr>
              <a:defRPr sz="1350" b="0">
                <a:solidFill>
                  <a:srgbClr val="A9BDD1"/>
                </a:solidFill>
                <a:latin typeface="Arial"/>
                <a:ea typeface="Arial"/>
                <a:cs typeface="Arial"/>
              </a:defRPr>
            </a:lvl2pPr>
            <a:lvl3pPr>
              <a:defRPr sz="1350" b="0">
                <a:solidFill>
                  <a:srgbClr val="A9BDD1"/>
                </a:solidFill>
                <a:latin typeface="Arial"/>
                <a:ea typeface="Arial"/>
                <a:cs typeface="Arial"/>
              </a:defRPr>
            </a:lvl3pPr>
            <a:lvl4pPr>
              <a:defRPr sz="1350" b="0">
                <a:solidFill>
                  <a:srgbClr val="A9BDD1"/>
                </a:solidFill>
                <a:latin typeface="Arial"/>
                <a:ea typeface="Arial"/>
                <a:cs typeface="Arial"/>
              </a:defRPr>
            </a:lvl4pPr>
            <a:lvl5pPr>
              <a:defRPr sz="1350" b="0">
                <a:solidFill>
                  <a:srgbClr val="A9BDD1"/>
                </a:solidFill>
                <a:latin typeface="Arial"/>
                <a:ea typeface="Arial"/>
                <a:cs typeface="Arial"/>
              </a:defRPr>
            </a:lvl5pPr>
            <a:lvl6pPr>
              <a:defRPr sz="1350" b="0">
                <a:solidFill>
                  <a:srgbClr val="A9BDD1"/>
                </a:solidFill>
                <a:latin typeface="Arial"/>
                <a:ea typeface="Arial"/>
                <a:cs typeface="Arial"/>
              </a:defRPr>
            </a:lvl6pPr>
            <a:lvl7pPr>
              <a:defRPr sz="1350" b="0">
                <a:solidFill>
                  <a:srgbClr val="A9BDD1"/>
                </a:solidFill>
                <a:latin typeface="Arial"/>
                <a:ea typeface="Arial"/>
                <a:cs typeface="Arial"/>
              </a:defRPr>
            </a:lvl7pPr>
            <a:lvl8pPr>
              <a:defRPr sz="1350" b="0">
                <a:solidFill>
                  <a:srgbClr val="A9BDD1"/>
                </a:solidFill>
                <a:latin typeface="Arial"/>
                <a:ea typeface="Arial"/>
                <a:cs typeface="Arial"/>
              </a:defRPr>
            </a:lvl8pPr>
            <a:lvl9pPr>
              <a:defRPr sz="1350" b="0">
                <a:solidFill>
                  <a:srgbClr val="A9BDD1"/>
                </a:solidFill>
                <a:latin typeface="Arial"/>
                <a:ea typeface="Arial"/>
                <a:cs typeface="Arial"/>
              </a:defRPr>
            </a:lvl9pPr>
          </a:lstStyle>
          <a:p xmlns:a="http://schemas.openxmlformats.org/drawingml/2006/main">
            <a:pPr>
              <a:defRPr sz="1350" b="0">
                <a:solidFill>
                  <a:srgbClr val="A9BDD1"/>
                </a:solidFill>
                <a:latin typeface="Arial"/>
                <a:ea typeface="Arial"/>
                <a:cs typeface="Arial"/>
              </a:defRPr>
            </a:pPr>
            <a:r>
              <a:rPr sz="1350" b="0">
                <a:solidFill>
                  <a:srgbClr val="A9BDD1"/>
                </a:solidFill>
                <a:latin typeface="Arial"/>
                <a:ea typeface="Arial"/>
                <a:cs typeface="Arial"/>
              </a:rPr>
              <a:t>17</a:t>
            </a:r>
          </a:p>
        </p:txBody>
      </p:sp>
      <p:graphicFrame>
        <p:nvGraphicFramePr>
          <p:cNvPr id="4" name="">
            <a:extLst xmlns:a="http://schemas.openxmlformats.org/drawingml/2006/main">
              <a:ext uri="{FF2B5EF4-FFF2-40B4-BE49-F238E27FC236}">
                <a16:creationId xmlns:a16="http://schemas.microsoft.com/office/drawing/2014/main" id="{96EB9589-7711-4558-9FB8-AAD60513A118}"/>
              </a:ext>
            </a:extLst>
          </p:cNvPr>
          <p:cNvGraphicFramePr/>
          <p:nvPr/>
        </p:nvGraphicFramePr>
        <p:xfrm>
          <a:off xmlns:a="http://schemas.openxmlformats.org/drawingml/2006/main" x="609600" y="2000250"/>
          <a:ext xmlns:a="http://schemas.openxmlformats.org/drawingml/2006/main" cx="10972800" cy="3619500"/>
        </p:xfrm>
        <a:graphic xmlns:a="http://schemas.openxmlformats.org/drawingml/2006/main">
          <a:graphicData uri="http://schemas.openxmlformats.org/drawingml/2006/table">
            <a:tbl>
              <a:tblPr/>
              <a:tblGrid>
                <a:gridCol w="3143250"/>
                <a:gridCol w="2905125"/>
                <a:gridCol w="4924425"/>
              </a:tblGrid>
              <a:tr h="723900">
                <a:tc>
                  <a:txBody>
                    <a:bodyPr/>
                    <a:lstStyle/>
                    <a:p>
                      <a:r>
                        <a:rPr sz="1800" b="1">
                          <a:solidFill>
                            <a:srgbClr val="6ADDB2"/>
                          </a:solidFill>
                          <a:latin typeface="Arial"/>
                          <a:ea typeface="Arial"/>
                          <a:cs typeface="Arial"/>
                        </a:rPr>
                        <a:t>Sujet</a:t>
                      </a:r>
                    </a:p>
                  </a:txBody>
                  <a:tcPr marL="91440" marR="91440" marT="45720" marB="45720">
                    <a:lnL w="9525">
                      <a:solidFill>
                        <a:srgbClr val="334459"/>
                      </a:solidFill>
                      <a:prstDash val="solid"/>
                    </a:lnL>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Référence</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c>
                  <a:txBody>
                    <a:bodyPr/>
                    <a:lstStyle/>
                    <a:p>
                      <a:r>
                        <a:rPr sz="1800" b="1">
                          <a:solidFill>
                            <a:srgbClr val="6ADDB2"/>
                          </a:solidFill>
                          <a:latin typeface="Arial"/>
                          <a:ea typeface="Arial"/>
                          <a:cs typeface="Arial"/>
                        </a:rPr>
                        <a:t>Code</a:t>
                      </a:r>
                    </a:p>
                  </a:txBody>
                  <a:tcPr marL="91440" marR="91440" marT="45720" marB="45720">
                    <a:lnR w="9525">
                      <a:solidFill>
                        <a:srgbClr val="334459"/>
                      </a:solidFill>
                      <a:prstDash val="solid"/>
                    </a:lnR>
                    <a:lnT w="9525">
                      <a:solidFill>
                        <a:srgbClr val="334459"/>
                      </a:solidFill>
                      <a:prstDash val="solid"/>
                    </a:lnT>
                    <a:lnB w="9525">
                      <a:solidFill>
                        <a:srgbClr val="334459"/>
                      </a:solidFill>
                      <a:prstDash val="solid"/>
                    </a:lnB>
                    <a:solidFill>
                      <a:srgbClr val="263A4B"/>
                    </a:solidFill>
                  </a:tcPr>
                </a:tc>
              </a:tr>
              <a:tr h="723900">
                <a:tc>
                  <a:txBody>
                    <a:bodyPr/>
                    <a:lstStyle/>
                    <a:p>
                      <a:r>
                        <a:rPr sz="1800" b="0">
                          <a:solidFill>
                            <a:srgbClr val="EEF4FA"/>
                          </a:solidFill>
                          <a:latin typeface="Arial"/>
                          <a:ea typeface="Arial"/>
                          <a:cs typeface="Arial"/>
                        </a:rPr>
                        <a:t>Euler et damping</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4, p. 4-7</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Particule.integrer</a:t>
                      </a:r>
                    </a:p>
                  </a:txBody>
                  <a:tcPr marL="91440" marR="91440" marT="45720" marB="45720">
                    <a:lnR w="9525">
                      <a:solidFill>
                        <a:srgbClr val="334459"/>
                      </a:solidFill>
                      <a:prstDash val="solid"/>
                    </a:lnR>
                    <a:lnB w="9525">
                      <a:solidFill>
                        <a:srgbClr val="334459"/>
                      </a:solidFill>
                      <a:prstDash val="solid"/>
                    </a:lnB>
                    <a:solidFill>
                      <a:srgbClr val="131B2B"/>
                    </a:solidFill>
                  </a:tcPr>
                </a:tc>
              </a:tr>
              <a:tr h="723900">
                <a:tc>
                  <a:txBody>
                    <a:bodyPr/>
                    <a:lstStyle/>
                    <a:p>
                      <a:r>
                        <a:rPr sz="1800" b="0">
                          <a:solidFill>
                            <a:srgbClr val="EEF4FA"/>
                          </a:solidFill>
                          <a:latin typeface="Arial"/>
                          <a:ea typeface="Arial"/>
                          <a:cs typeface="Arial"/>
                        </a:rPr>
                        <a:t>Newton et friction</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5, p. 1-5</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Gravite, FrictionTrainee, FrictionSolide</a:t>
                      </a:r>
                    </a:p>
                  </a:txBody>
                  <a:tcPr marL="91440" marR="91440" marT="45720" marB="45720">
                    <a:lnR w="9525">
                      <a:solidFill>
                        <a:srgbClr val="334459"/>
                      </a:solidFill>
                      <a:prstDash val="solid"/>
                    </a:lnR>
                    <a:lnB w="9525">
                      <a:solidFill>
                        <a:srgbClr val="334459"/>
                      </a:solidFill>
                      <a:prstDash val="solid"/>
                    </a:lnB>
                    <a:solidFill>
                      <a:srgbClr val="131B2B"/>
                    </a:solidFill>
                  </a:tcPr>
                </a:tc>
              </a:tr>
              <a:tr h="723900">
                <a:tc>
                  <a:txBody>
                    <a:bodyPr/>
                    <a:lstStyle/>
                    <a:p>
                      <a:r>
                        <a:rPr sz="1800" b="0">
                          <a:solidFill>
                            <a:srgbClr val="EEF4FA"/>
                          </a:solidFill>
                          <a:latin typeface="Arial"/>
                          <a:ea typeface="Arial"/>
                          <a:cs typeface="Arial"/>
                        </a:rPr>
                        <a:t>Ressorts et oscillation</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5, p. 5-8</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Ressort…, OscillateurAmorti</a:t>
                      </a:r>
                    </a:p>
                  </a:txBody>
                  <a:tcPr marL="91440" marR="91440" marT="45720" marB="45720">
                    <a:lnR w="9525">
                      <a:solidFill>
                        <a:srgbClr val="334459"/>
                      </a:solidFill>
                      <a:prstDash val="solid"/>
                    </a:lnR>
                    <a:lnB w="9525">
                      <a:solidFill>
                        <a:srgbClr val="334459"/>
                      </a:solidFill>
                      <a:prstDash val="solid"/>
                    </a:lnB>
                    <a:solidFill>
                      <a:srgbClr val="131B2B"/>
                    </a:solidFill>
                  </a:tcPr>
                </a:tc>
              </a:tr>
              <a:tr h="723900">
                <a:tc>
                  <a:txBody>
                    <a:bodyPr/>
                    <a:lstStyle/>
                    <a:p>
                      <a:r>
                        <a:rPr sz="1800" b="0">
                          <a:solidFill>
                            <a:srgbClr val="EEF4FA"/>
                          </a:solidFill>
                          <a:latin typeface="Arial"/>
                          <a:ea typeface="Arial"/>
                          <a:cs typeface="Arial"/>
                        </a:rPr>
                        <a:t>Contacts et contraintes</a:t>
                      </a:r>
                    </a:p>
                  </a:txBody>
                  <a:tcPr marL="91440" marR="91440" marT="45720" marB="45720">
                    <a:lnL w="9525">
                      <a:solidFill>
                        <a:srgbClr val="334459"/>
                      </a:solidFill>
                      <a:prstDash val="solid"/>
                    </a:lnL>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Chap. 6, p. 1-8</a:t>
                      </a:r>
                    </a:p>
                  </a:txBody>
                  <a:tcPr marL="91440" marR="91440" marT="45720" marB="45720">
                    <a:lnR w="9525">
                      <a:solidFill>
                        <a:srgbClr val="334459"/>
                      </a:solidFill>
                      <a:prstDash val="solid"/>
                    </a:lnR>
                    <a:lnB w="9525">
                      <a:solidFill>
                        <a:srgbClr val="334459"/>
                      </a:solidFill>
                      <a:prstDash val="solid"/>
                    </a:lnB>
                    <a:solidFill>
                      <a:srgbClr val="131B2B"/>
                    </a:solidFill>
                  </a:tcPr>
                </a:tc>
                <a:tc>
                  <a:txBody>
                    <a:bodyPr/>
                    <a:lstStyle/>
                    <a:p>
                      <a:r>
                        <a:rPr sz="1800" b="0">
                          <a:solidFill>
                            <a:srgbClr val="EEF4FA"/>
                          </a:solidFill>
                          <a:latin typeface="Arial"/>
                          <a:ea typeface="Arial"/>
                          <a:cs typeface="Arial"/>
                        </a:rPr>
                        <a:t>Contact…, ResolveurContacts</a:t>
                      </a:r>
                    </a:p>
                  </a:txBody>
                  <a:tcPr marL="91440" marR="91440" marT="45720" marB="45720">
                    <a:lnR w="9525">
                      <a:solidFill>
                        <a:srgbClr val="334459"/>
                      </a:solidFill>
                      <a:prstDash val="solid"/>
                    </a:lnR>
                    <a:lnB w="9525">
                      <a:solidFill>
                        <a:srgbClr val="334459"/>
                      </a:solidFill>
                      <a:prstDash val="solid"/>
                    </a:lnB>
                    <a:solidFill>
                      <a:srgbClr val="131B2B"/>
                    </a:solidFill>
                  </a:tcPr>
                </a:tc>
              </a:tr>
            </a:tbl>
          </a:graphicData>
        </a:graphic>
      </p:graphicFrame>
      <p:sp>
        <p:nvSpPr>
          <p:cNvPr id="5" name="">
            <a:extLst xmlns:a="http://schemas.openxmlformats.org/drawingml/2006/main">
              <a:ext uri="{FF2B5EF4-FFF2-40B4-BE49-F238E27FC236}">
                <a16:creationId xmlns:a16="http://schemas.microsoft.com/office/drawing/2014/main" id="{975BF429-0896-45C3-8157-31D3A6F4762E}"/>
              </a:ext>
            </a:extLst>
          </p:cNvPr>
          <p:cNvSpPr>
            <a:spLocks xmlns:a="http://schemas.openxmlformats.org/drawingml/2006/main" noGrp="1"/>
          </p:cNvSpPr>
          <p:nvPr/>
        </p:nvSpPr>
        <p:spPr>
          <a:xfrm xmlns:a="http://schemas.openxmlformats.org/drawingml/2006/main">
            <a:off x="609600" y="6019800"/>
            <a:ext cx="1028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A9BDD1"/>
                </a:solidFill>
                <a:latin typeface="Arial"/>
                <a:ea typeface="Arial"/>
                <a:cs typeface="Arial"/>
              </a:defRPr>
            </a:defPPr>
            <a:lvl1pPr>
              <a:defRPr sz="1500" b="0">
                <a:solidFill>
                  <a:srgbClr val="A9BDD1"/>
                </a:solidFill>
                <a:latin typeface="Arial"/>
                <a:ea typeface="Arial"/>
                <a:cs typeface="Arial"/>
              </a:defRPr>
            </a:lvl1pPr>
            <a:lvl2pPr>
              <a:defRPr sz="1500" b="0">
                <a:solidFill>
                  <a:srgbClr val="A9BDD1"/>
                </a:solidFill>
                <a:latin typeface="Arial"/>
                <a:ea typeface="Arial"/>
                <a:cs typeface="Arial"/>
              </a:defRPr>
            </a:lvl2pPr>
            <a:lvl3pPr>
              <a:defRPr sz="1500" b="0">
                <a:solidFill>
                  <a:srgbClr val="A9BDD1"/>
                </a:solidFill>
                <a:latin typeface="Arial"/>
                <a:ea typeface="Arial"/>
                <a:cs typeface="Arial"/>
              </a:defRPr>
            </a:lvl3pPr>
            <a:lvl4pPr>
              <a:defRPr sz="1500" b="0">
                <a:solidFill>
                  <a:srgbClr val="A9BDD1"/>
                </a:solidFill>
                <a:latin typeface="Arial"/>
                <a:ea typeface="Arial"/>
                <a:cs typeface="Arial"/>
              </a:defRPr>
            </a:lvl4pPr>
            <a:lvl5pPr>
              <a:defRPr sz="1500" b="0">
                <a:solidFill>
                  <a:srgbClr val="A9BDD1"/>
                </a:solidFill>
                <a:latin typeface="Arial"/>
                <a:ea typeface="Arial"/>
                <a:cs typeface="Arial"/>
              </a:defRPr>
            </a:lvl5pPr>
            <a:lvl6pPr>
              <a:defRPr sz="1500" b="0">
                <a:solidFill>
                  <a:srgbClr val="A9BDD1"/>
                </a:solidFill>
                <a:latin typeface="Arial"/>
                <a:ea typeface="Arial"/>
                <a:cs typeface="Arial"/>
              </a:defRPr>
            </a:lvl6pPr>
            <a:lvl7pPr>
              <a:defRPr sz="1500" b="0">
                <a:solidFill>
                  <a:srgbClr val="A9BDD1"/>
                </a:solidFill>
                <a:latin typeface="Arial"/>
                <a:ea typeface="Arial"/>
                <a:cs typeface="Arial"/>
              </a:defRPr>
            </a:lvl7pPr>
            <a:lvl8pPr>
              <a:defRPr sz="1500" b="0">
                <a:solidFill>
                  <a:srgbClr val="A9BDD1"/>
                </a:solidFill>
                <a:latin typeface="Arial"/>
                <a:ea typeface="Arial"/>
                <a:cs typeface="Arial"/>
              </a:defRPr>
            </a:lvl8pPr>
            <a:lvl9pPr>
              <a:defRPr sz="1500" b="0">
                <a:solidFill>
                  <a:srgbClr val="A9BDD1"/>
                </a:solidFill>
                <a:latin typeface="Arial"/>
                <a:ea typeface="Arial"/>
                <a:cs typeface="Arial"/>
              </a:defRPr>
            </a:lvl9pPr>
          </a:lstStyle>
          <a:p xmlns:a="http://schemas.openxmlformats.org/drawingml/2006/main">
            <a:pPr>
              <a:defRPr sz="1500" b="0">
                <a:solidFill>
                  <a:srgbClr val="A9BDD1"/>
                </a:solidFill>
                <a:latin typeface="Arial"/>
                <a:ea typeface="Arial"/>
                <a:cs typeface="Arial"/>
              </a:defRPr>
            </a:pPr>
            <a:r>
              <a:rPr sz="1500" b="0">
                <a:solidFill>
                  <a:srgbClr val="A9BDD1"/>
                </a:solidFill>
                <a:latin typeface="Arial"/>
                <a:ea typeface="Arial"/>
                <a:cs typeface="Arial"/>
              </a:rPr>
              <a:t>Les notes du présentateur indiquent les pages, les symboles et les méthodes.</a:t>
            </a:r>
          </a:p>
        </p:txBody>
      </p:sp>
    </p:spTree>
    <p:extLst>
      <p:ext uri="{BB962C8B-B14F-4D97-AF65-F5344CB8AC3E}">
        <p14:creationId xmlns:p14="http://schemas.microsoft.com/office/powerpoint/2010/main" val="11604636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2026-10-25T19:35:15.0500000Z</dcterms:created>
  <dcterms:modified xsi:type="dcterms:W3CDTF">2026-10-25T19:35:15.0500000Z</dcterms:modified>
</coreProperties>
</file>