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damping ^ dt  (correct, indépendant du framerate)</c:v>
                </c:pt>
              </c:strCache>
            </c:strRef>
          </c:tx>
          <c:spPr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0.00s</c:v>
                </c:pt>
                <c:pt idx="1">
                  <c:v>0.25s</c:v>
                </c:pt>
                <c:pt idx="2">
                  <c:v>0.50s</c:v>
                </c:pt>
                <c:pt idx="3">
                  <c:v>0.75s</c:v>
                </c:pt>
                <c:pt idx="4">
                  <c:v>1.00s</c:v>
                </c:pt>
                <c:pt idx="5">
                  <c:v>1.25s</c:v>
                </c:pt>
                <c:pt idx="6">
                  <c:v>1.50s</c:v>
                </c:pt>
                <c:pt idx="7">
                  <c:v>1.75s</c:v>
                </c:pt>
                <c:pt idx="8">
                  <c:v>2.00s</c:v>
                </c:pt>
                <c:pt idx="9">
                  <c:v>2.25s</c:v>
                </c:pt>
                <c:pt idx="10">
                  <c:v>2.50s</c:v>
                </c:pt>
                <c:pt idx="11">
                  <c:v>2.75s</c:v>
                </c:pt>
                <c:pt idx="12">
                  <c:v>3.00s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0.88011173679339338</c:v>
                </c:pt>
                <c:pt idx="2">
                  <c:v>0.7745966692414834</c:v>
                </c:pt>
                <c:pt idx="3">
                  <c:v>0.68173161988049957</c:v>
                </c:pt>
                <c:pt idx="4">
                  <c:v>0.6</c:v>
                </c:pt>
                <c:pt idx="5">
                  <c:v>0.52806704207603605</c:v>
                </c:pt>
                <c:pt idx="6">
                  <c:v>0.46475800154489</c:v>
                </c:pt>
                <c:pt idx="7">
                  <c:v>0.40903897192829974</c:v>
                </c:pt>
                <c:pt idx="8">
                  <c:v>0.36</c:v>
                </c:pt>
                <c:pt idx="9">
                  <c:v>0.31684022524562161</c:v>
                </c:pt>
                <c:pt idx="10">
                  <c:v>0.27885480092693399</c:v>
                </c:pt>
                <c:pt idx="11">
                  <c:v>0.24542338315697984</c:v>
                </c:pt>
                <c:pt idx="12">
                  <c:v>0.21599999999999997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18-475D-9EA2-4F594FA9D2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multiplication fixe, calibrée à 60 fps puis jouée à 30 fps</c:v>
                </c:pt>
              </c:strCache>
            </c:strRef>
          </c:tx>
          <c:spPr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0.00s</c:v>
                </c:pt>
                <c:pt idx="1">
                  <c:v>0.25s</c:v>
                </c:pt>
                <c:pt idx="2">
                  <c:v>0.50s</c:v>
                </c:pt>
                <c:pt idx="3">
                  <c:v>0.75s</c:v>
                </c:pt>
                <c:pt idx="4">
                  <c:v>1.00s</c:v>
                </c:pt>
                <c:pt idx="5">
                  <c:v>1.25s</c:v>
                </c:pt>
                <c:pt idx="6">
                  <c:v>1.50s</c:v>
                </c:pt>
                <c:pt idx="7">
                  <c:v>1.75s</c:v>
                </c:pt>
                <c:pt idx="8">
                  <c:v>2.00s</c:v>
                </c:pt>
                <c:pt idx="9">
                  <c:v>2.25s</c:v>
                </c:pt>
                <c:pt idx="10">
                  <c:v>2.50s</c:v>
                </c:pt>
                <c:pt idx="11">
                  <c:v>2.75s</c:v>
                </c:pt>
                <c:pt idx="12">
                  <c:v>3.00s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</c:v>
                </c:pt>
                <c:pt idx="1">
                  <c:v>0.93814270598528526</c:v>
                </c:pt>
                <c:pt idx="2">
                  <c:v>0.88011173679339338</c:v>
                </c:pt>
                <c:pt idx="3">
                  <c:v>0.8256704063247633</c:v>
                </c:pt>
                <c:pt idx="4">
                  <c:v>0.7745966692414834</c:v>
                </c:pt>
                <c:pt idx="5">
                  <c:v>0.72668221532939425</c:v>
                </c:pt>
                <c:pt idx="6">
                  <c:v>0.68173161988049968</c:v>
                </c:pt>
                <c:pt idx="7">
                  <c:v>0.63956154663042386</c:v>
                </c:pt>
                <c:pt idx="8">
                  <c:v>0.60000000000000009</c:v>
                </c:pt>
                <c:pt idx="9">
                  <c:v>0.56288562359117122</c:v>
                </c:pt>
                <c:pt idx="10">
                  <c:v>0.52806704207603605</c:v>
                </c:pt>
                <c:pt idx="11">
                  <c:v>0.49540224379485798</c:v>
                </c:pt>
                <c:pt idx="12">
                  <c:v>0.46475800154489005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18-475D-9EA2-4F594FA9D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1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B5F6E"/>
                    </a:solidFill>
                    <a:latin typeface="Arial"/>
                  </a:defRPr>
                </a:pPr>
                <a:r>
                  <a:rPr lang="fr-FR" sz="950" b="0" i="0" u="none" strike="noStrike">
                    <a:solidFill>
                      <a:srgbClr val="5B5F6E"/>
                    </a:solidFill>
                    <a:latin typeface="Arial"/>
                  </a:rPr>
                  <a:t>‖vitesse‖ / ‖vitesse initiale‖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4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05840"/>
            <a:ext cx="98298" cy="67094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60436" y="1137056"/>
            <a:ext cx="98298" cy="6115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57032" y="1256386"/>
            <a:ext cx="98298" cy="55207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453628" y="1363828"/>
            <a:ext cx="98298" cy="49263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50224" y="1459382"/>
            <a:ext cx="98298" cy="4332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846820" y="1543050"/>
            <a:ext cx="98298" cy="37376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043416" y="1614830"/>
            <a:ext cx="98298" cy="31433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240012" y="1674724"/>
            <a:ext cx="98298" cy="25489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436608" y="1722730"/>
            <a:ext cx="98298" cy="19545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33204" y="1758848"/>
            <a:ext cx="98298" cy="13602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829800" y="1783080"/>
            <a:ext cx="98298" cy="765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026396" y="1795424"/>
            <a:ext cx="98298" cy="1715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 flipV="1">
            <a:off x="10222992" y="1791653"/>
            <a:ext cx="98298" cy="4229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 flipV="1">
            <a:off x="10419588" y="1774279"/>
            <a:ext cx="98298" cy="10173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 flipV="1">
            <a:off x="10616184" y="1745018"/>
            <a:ext cx="98298" cy="16116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 flipV="1">
            <a:off x="10812780" y="1703870"/>
            <a:ext cx="98298" cy="2206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 flipV="1">
            <a:off x="11009376" y="1650835"/>
            <a:ext cx="98298" cy="28004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 flipV="1">
            <a:off x="11205972" y="1585913"/>
            <a:ext cx="98298" cy="33947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 flipV="1">
            <a:off x="11402568" y="1509103"/>
            <a:ext cx="98298" cy="3989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 flipV="1">
            <a:off x="11599164" y="1420406"/>
            <a:ext cx="98298" cy="45834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726680" y="8686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1539728" y="1115568"/>
            <a:ext cx="512064" cy="512064"/>
          </a:xfrm>
          <a:prstGeom prst="ellipse">
            <a:avLst/>
          </a:prstGeom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1658600" y="123444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MATHÉMATIQUES &amp; PHYSIQUE POUR LE JEU VIDÉO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18745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Moteur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!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Ça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tire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22960" y="2880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physique de particules &amp; jeu de tir balistique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3977640"/>
            <a:ext cx="5669280" cy="0"/>
          </a:xfrm>
          <a:prstGeom prst="line">
            <a:avLst/>
          </a:prstGeom>
          <a:noFill/>
          <a:ln w="127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Sonic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Fanch Even   ·   Florian Mordohai   ·   Clément </a:t>
            </a:r>
            <a:r>
              <a:rPr lang="en-US" sz="1300" dirty="0" err="1">
                <a:solidFill>
                  <a:srgbClr val="9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Rieuneau</a:t>
            </a:r>
            <a:r>
              <a:rPr lang="en-US" sz="1300" dirty="0">
                <a:solidFill>
                  <a:srgbClr val="9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mathématiques et physique pour le jeu vidéo  —  Phase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OBJECTIF DE LA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228600" dist="50800" dir="5400000" algn="bl" rotWithShape="0">
              <a:srgbClr val="1B1E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80160" y="2377440"/>
            <a:ext cx="566928" cy="566928"/>
          </a:xfrm>
          <a:prstGeom prst="ellipse">
            <a:avLst/>
          </a:prstGeom>
          <a:solidFill>
            <a:srgbClr val="FFEDE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233172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un </a:t>
            </a:r>
            <a:r>
              <a:rPr lang="en-US" sz="2600" b="1" dirty="0">
                <a:solidFill>
                  <a:srgbClr val="1B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physique de particules</a:t>
            </a:r>
            <a:r>
              <a:rPr lang="en-US" sz="2600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maison — intégration d'Euler, gravité, frottement — puis l'exploiter dans un </a:t>
            </a:r>
            <a:r>
              <a:rPr lang="en-US" sz="2600" b="1" dirty="0">
                <a:solidFill>
                  <a:srgbClr val="D94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tir balistique</a:t>
            </a:r>
            <a:r>
              <a:rPr lang="en-US" sz="2600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quatre types de projectiles.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4160520"/>
            <a:ext cx="8412480" cy="0"/>
          </a:xfrm>
          <a:prstGeom prst="line">
            <a:avLst/>
          </a:prstGeom>
          <a:noFill/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03120" y="4297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Séparation moteur / jeu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EAFBF9"/>
          </a:solidFill>
          <a:ln w="15875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1EA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— Java / Maven — testé unitairement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4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— Processing (.pde) — non testable unitairement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88720" y="22402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280160" y="23134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Vecteur3D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norme, produits scalaire/vectoriel, normalisation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825496"/>
            <a:ext cx="0" cy="256032"/>
          </a:xfrm>
          <a:prstGeom prst="line">
            <a:avLst/>
          </a:prstGeom>
          <a:noFill/>
          <a:ln w="25400">
            <a:solidFill>
              <a:srgbClr val="1B9C9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188720" y="311810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280160" y="31912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483864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intégrateur d'Euler : position, vitesse, damping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88720" y="3776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testé via JUnit (Vecteur3DTest, ParticuleTest)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224028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0" y="2240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 (abstrait)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69680" y="2779776"/>
            <a:ext cx="0" cy="201168"/>
          </a:xfrm>
          <a:prstGeom prst="line">
            <a:avLst/>
          </a:prstGeom>
          <a:noFill/>
          <a:ln w="25400">
            <a:solidFill>
              <a:srgbClr val="D9491C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812280" y="3035808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903720" y="3035808"/>
            <a:ext cx="75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63840" y="3035808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955280" y="3035808"/>
            <a:ext cx="75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915400" y="3035808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006840" y="3035808"/>
            <a:ext cx="75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966960" y="3035808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058400" y="3035808"/>
            <a:ext cx="75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 de feu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869680" y="3575304"/>
            <a:ext cx="0" cy="219456"/>
          </a:xfrm>
          <a:prstGeom prst="line">
            <a:avLst/>
          </a:prstGeom>
          <a:noFill/>
          <a:ln w="25400">
            <a:solidFill>
              <a:srgbClr val="D9491C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812280" y="3831336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1B1E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903720" y="38313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 +  Jeu.pde (orchestration)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43434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94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boucle draw(), tir, collisions, score — non testé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0" y="3401568"/>
            <a:ext cx="1508760" cy="0"/>
          </a:xfrm>
          <a:prstGeom prst="line">
            <a:avLst/>
          </a:prstGeom>
          <a:noFill/>
          <a:ln w="22225">
            <a:solidFill>
              <a:srgbClr val="8A8FA3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257800" y="3474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Projectile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une Particule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séparer les deux ? </a:t>
            </a:r>
            <a:r>
              <a:rPr lang="en-US" sz="12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permet d'exécuter des tests unitaires sur les maths et la physique ; Processing (.pde) n'offre pas ce cadre — la logique critique reste donc dans le module testé, et .pde se limite à l'affichage et à l'orchestration.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VECTEUR3D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maths derrière la classe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ÇA SERT DANS LE JEU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‖v‖ = √(x² + y² + z²)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· w = xₓwₓ + yᵥyᵥ + zᵥzᵥ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scalaire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× w  →  vecteur perpendiculaire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3434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vectoriel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800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v̂ = v / ‖v‖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166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35915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66560" y="2221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projectile ↔ cible, pour détecter une collision (comparée au rayon de la cible).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36499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66560" y="32278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l'alignement entre deux directions — utile pour évaluer un tir par rapport à une cible.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37083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766560" y="42336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géométriques annexes (ex. axes perpendiculaires à une trajectoire).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537667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66560" y="52395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 la direction souris → canon, pour donner une vitesse initiale de norme fixe au tir.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1874520"/>
            <a:ext cx="0" cy="3840480"/>
          </a:xfrm>
          <a:prstGeom prst="line">
            <a:avLst/>
          </a:prstGeom>
          <a:noFill/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SIMULATION NUMÉRIQUE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L'intégrateur d'Euler (semi-implicite)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2788920"/>
          </a:xfrm>
          <a:prstGeom prst="roundRect">
            <a:avLst>
              <a:gd name="adj" fmla="val 2623"/>
            </a:avLst>
          </a:prstGeom>
          <a:solidFill>
            <a:srgbClr val="1B1E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15568" y="196596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Particule.java — integrer(dt)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5943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Vitesse = Vitesse + Accélération × dt
</a:t>
            </a: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vitesse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.additionner(acceleration × </a:t>
            </a:r>
            <a:r>
              <a:rPr lang="en-US" sz="13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350" dirty="0">
                <a:solidFill>
                  <a:srgbClr val="6E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Position = Position + Vitesse × dt
</a:t>
            </a: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.additionner(vitesse × </a:t>
            </a:r>
            <a:r>
              <a:rPr lang="en-US" sz="13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350" dirty="0">
                <a:solidFill>
                  <a:srgbClr val="6E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Frottement (voir slide suivante)
</a:t>
            </a: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vitesse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.multiplierParUnScalaire(damping^</a:t>
            </a:r>
            <a:r>
              <a:rPr lang="en-US" sz="13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3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69480" y="1783080"/>
            <a:ext cx="4343400" cy="2788920"/>
          </a:xfrm>
          <a:prstGeom prst="roundRect">
            <a:avLst>
              <a:gd name="adj" fmla="val 2623"/>
            </a:avLst>
          </a:prstGeom>
          <a:solidFill>
            <a:srgbClr val="EAFBF9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49808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Semi-implicite : pourquoi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2331720"/>
            <a:ext cx="3886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vitesse est mise à jour avant la position, et c'est cette nouvelle vitesse qui sert au déplacement. Ce léger décalage suffit à stabiliser la simulation pour une gravité et un damping constants sur une frame — largement suffisant pour cette phase 1.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Concrètement : </a:t>
            </a:r>
            <a:r>
              <a:rPr lang="en-US" sz="12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projectile encapsule une </a:t>
            </a:r>
            <a:r>
              <a:rPr lang="en-US" sz="1250" b="1" dirty="0">
                <a:solidFill>
                  <a:srgbClr val="1B9C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Particule</a:t>
            </a:r>
            <a:r>
              <a:rPr lang="en-US" sz="12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sa trajectoire visible à l'écran n'est que le résultat, frame après frame, de ces trois lignes.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FROTTEMENT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damping : une puissance de dt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1E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vitesse *= </a:t>
            </a:r>
            <a:r>
              <a:rPr lang="en-US" sz="17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damping</a:t>
            </a:r>
            <a:r>
              <a:rPr lang="en-US" sz="1750" b="1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r>
              <a:rPr lang="en-US" sz="1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9120" y="2788920"/>
            <a:ext cx="4160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puissance de dt (et non une multiplication fixe) parce que le nombre de frames par seconde varie : sans ça, le frottement dépendrait du framerate au lieu de ne dépendre que du temps réel écoulé.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résiduelle dans le temps — même damping, deux implémentations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0" y="1874520"/>
          <a:ext cx="6583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BOUCLE DE JEU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Mesurer le vrai pas de temps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762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" y="1947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323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draw() s'exécute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9169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frame, framerate variable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2560320"/>
            <a:ext cx="201168" cy="0"/>
          </a:xfrm>
          <a:prstGeom prst="line">
            <a:avLst/>
          </a:prstGeom>
          <a:noFill/>
          <a:ln w="25400">
            <a:solidFill>
              <a:srgbClr val="1B9C9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355848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762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520440" y="1947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2044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3008" y="24414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maintenant = millis()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93008" y="29169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horloge Processing, en 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2560320"/>
            <a:ext cx="201168" cy="0"/>
          </a:xfrm>
          <a:prstGeom prst="line">
            <a:avLst/>
          </a:prstGeom>
          <a:noFill/>
          <a:ln w="25400">
            <a:solidFill>
              <a:srgbClr val="1B9C9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63056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762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327648" y="1947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24414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(maintenant − dernierTemps) / 1000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0216" y="29169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réelle de la frame, en secondes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69096" y="2560320"/>
            <a:ext cx="201168" cy="0"/>
          </a:xfrm>
          <a:prstGeom prst="line">
            <a:avLst/>
          </a:prstGeom>
          <a:noFill/>
          <a:ln w="25400">
            <a:solidFill>
              <a:srgbClr val="1B9C9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970264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762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134856" y="1947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134856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07424" y="24414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dernierTemps = maintenant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07424" y="29169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mémorise pour la frame suivante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51660" y="3383280"/>
            <a:ext cx="0" cy="320040"/>
          </a:xfrm>
          <a:prstGeom prst="line">
            <a:avLst/>
          </a:prstGeom>
          <a:noFill/>
          <a:ln w="19050">
            <a:solidFill>
              <a:srgbClr val="AAB0C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851660" y="3703320"/>
            <a:ext cx="8421624" cy="0"/>
          </a:xfrm>
          <a:prstGeom prst="line">
            <a:avLst/>
          </a:prstGeom>
          <a:noFill/>
          <a:ln w="19050">
            <a:solidFill>
              <a:srgbClr val="AAB0C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0273284" y="3383280"/>
            <a:ext cx="0" cy="320040"/>
          </a:xfrm>
          <a:prstGeom prst="line">
            <a:avLst/>
          </a:prstGeom>
          <a:noFill/>
          <a:ln w="19050">
            <a:solidFill>
              <a:srgbClr val="AAB0C2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" y="3721608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la frame suivante repart de dernierTemps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dt est affiché sur le HUD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varie d'une frame à l'autre (charge machine, autres fenêtres, etc.) : l'afficher rend visible, en direct, la variable qui rend toute la physique — position, vitesse, damping — indépendante du framerate.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937760"/>
            <a:ext cx="1463040" cy="1463040"/>
          </a:xfrm>
          <a:prstGeom prst="ellipse">
            <a:avLst/>
          </a:prstGeom>
          <a:ln w="254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784080" y="5303520"/>
            <a:ext cx="731520" cy="731520"/>
          </a:xfrm>
          <a:prstGeom prst="ellipse">
            <a:avLst/>
          </a:prstGeom>
          <a:ln w="254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058400" y="557784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DÉMONSTRATION EN DIRECT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vers Processing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NOUVELLE FONCTIONNALITÉ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mini-laboratoire physique, pas juste un tir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1016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EAFB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Cibles, score &amp; victoire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800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cibles positionnées à des hauteurs et distances différentes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détectée par distance ‖projectile − cible‖ ≤ rayons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</a:t>
            </a: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victoire quand toutes les cibles sont touchées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1016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FFF1E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Réglage live de la physique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800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/ ↓  ajustent le damping en temps réel (0,80 → 1,00)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/ →  ajustent la gravité en temps réel (0 → 1200 px/s²)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projectiles (masse et vitesse propres) pour comparer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DÉFIS TECHNIQUES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techniques et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1016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04672" y="1965960"/>
            <a:ext cx="548640" cy="548640"/>
          </a:xfrm>
          <a:prstGeom prst="ellipse">
            <a:avLst/>
          </a:prstGeom>
          <a:solidFill>
            <a:srgbClr val="EAFB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0467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Intégrer Maven dans Processing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Le jeu (.pde) doit consommer les classes Java compilées et testées.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4133088"/>
            <a:ext cx="3099816" cy="0"/>
          </a:xfrm>
          <a:prstGeom prst="line">
            <a:avLst/>
          </a:prstGeom>
          <a:noFill/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" y="4279392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Le .jar du module Maven est copié automatiquement dans le sketch via le plugin antrun, à chaque build.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173736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1016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rgbClr val="FFF1E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Calibrer la physique en pixels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Les formules (Vecteur3D, Particule) sont génériques ; l'écran, lui, se mesure en pixels.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33088"/>
            <a:ext cx="3099816" cy="0"/>
          </a:xfrm>
          <a:prstGeom prst="line">
            <a:avLst/>
          </a:prstGeom>
          <a:noFill/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4279392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Gravité, vitesses et masses ont été calibrées empiriquement en unités « pixels/seconde » plutôt qu'en unités SI.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173736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blurRad="101600" dist="25400" dir="5400000" algn="bl" rotWithShape="0">
              <a:srgbClr val="1B1E2B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339328" y="1965960"/>
            <a:ext cx="548640" cy="548640"/>
          </a:xfrm>
          <a:prstGeom prst="ellipse">
            <a:avLst/>
          </a:prstGeom>
          <a:solidFill>
            <a:srgbClr val="EAFB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33932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39328" y="260604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Synchroniser testé / non testé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3200400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Le moteur est validé par JUnit ; le rendu Processing ne l'est pas.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39328" y="4133088"/>
            <a:ext cx="3099816" cy="0"/>
          </a:xfrm>
          <a:prstGeom prst="line">
            <a:avLst/>
          </a:prstGeom>
          <a:noFill/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339328" y="4279392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Toute la logique physique reste dans Vecteur3D/Particule ; le .pde se limite à l'affichage et à l'orchestration.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RECUL CRITIQUE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assumées &amp; pistes d'amélioration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EAFBF9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4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rebond ni collision avec le sol : un projectile qui touche le sol sort simplement de la scène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Unités arbitraires en pixels, pas en unités SI (m, kg, 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rendu/orchestration (.pde) n'est pas testable unitairement — contrairement à Vecteur3D et Particule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POUR LA SUITE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359152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Verlet pour une simulation plus stable et précise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solides (sol, obstacles) avec rebond réaliste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plusieurs joueurs / tir à tour de rôle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phases : niveaux, vent, projectiles à trajectoire courbe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QUALITÉ &amp; TESTS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unitaires (JUnit)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1B1E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15568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Vecteur3DTest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4414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testConstructeur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26289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testNormeCarre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81635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testNorme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00380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testNormaliser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19125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testAdditionner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37870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testProduitScalaire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testProduitVectoriel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375361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testEstNul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03250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ParticuleTest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279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testSetMasse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46684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testSetInverseMasse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65429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testIntegrationPosition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48417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testIntegrationVitesseAvecAcceleration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testDamping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21665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testMasseInvalide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540410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</a:t>
            </a: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testTempsNegatifNeModifiePasParticule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173736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498080" y="19385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couvert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498080" y="2359152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vectorielles : norme, produits scalaire/vectoriel, normalisation, addition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↔ inverse de la masse, et leurs validations (masse invalide)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: position et vitesse mises à jour correctement sur un pas de temps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appliqué correctement à la vitesse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limite : un dt négatif ne modifie pas la particule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02920" cy="502920"/>
          </a:xfrm>
          <a:prstGeom prst="ellipse">
            <a:avLst/>
          </a:prstGeom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11512" y="758952"/>
            <a:ext cx="265176" cy="26517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 Des questions 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52A3D"/>
          </a:solidFill>
          <a:ln w="127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78992" y="28620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78992" y="31089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physique testé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3794760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Vecteur3D + Particule, validés par JUnit, indépendants du rendu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2606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52A3D"/>
          </a:solidFill>
          <a:ln w="127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36592" y="28620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36592" y="31089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tir à 4 projectiles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3794760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Balle, Boulet, Laser, Boule de feu — chacun avec masse et vitesse propres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52A3D"/>
          </a:solidFill>
          <a:ln w="12700">
            <a:solidFill>
              <a:srgbClr val="3A40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94192" y="28620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94192" y="31089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Laboratoire physique interactif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3794760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Cibles, score, victoire — et damping/gravité ajustables en direct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de l'équipe]  —  [Titre du projet]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1245</Words>
  <Application>Microsoft Office PowerPoint</Application>
  <PresentationFormat>Grand écran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MORDOHAI Florian</cp:lastModifiedBy>
  <cp:revision>3</cp:revision>
  <dcterms:created xsi:type="dcterms:W3CDTF">2026-09-27T23:43:14Z</dcterms:created>
  <dcterms:modified xsi:type="dcterms:W3CDTF">2026-09-28T00:18:54Z</dcterms:modified>
</cp:coreProperties>
</file>